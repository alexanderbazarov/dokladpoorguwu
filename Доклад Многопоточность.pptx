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78" r:id="rId2"/>
    <p:sldId id="281" r:id="rId3"/>
    <p:sldId id="257" r:id="rId4"/>
    <p:sldId id="259" r:id="rId5"/>
    <p:sldId id="280" r:id="rId6"/>
    <p:sldId id="261" r:id="rId7"/>
    <p:sldId id="262" r:id="rId8"/>
    <p:sldId id="268" r:id="rId9"/>
    <p:sldId id="264" r:id="rId10"/>
    <p:sldId id="265" r:id="rId11"/>
    <p:sldId id="279" r:id="rId12"/>
    <p:sldId id="267" r:id="rId13"/>
    <p:sldId id="270" r:id="rId14"/>
    <p:sldId id="269" r:id="rId15"/>
    <p:sldId id="271" r:id="rId16"/>
    <p:sldId id="272" r:id="rId17"/>
    <p:sldId id="277" r:id="rId18"/>
  </p:sldIdLst>
  <p:sldSz cx="12192000" cy="6858000"/>
  <p:notesSz cx="6858000" cy="9144000"/>
  <p:defaultTextStyle>
    <a:defPPr>
      <a:defRPr lang="ru-K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5"/>
  </p:normalViewPr>
  <p:slideViewPr>
    <p:cSldViewPr snapToGrid="0">
      <p:cViewPr varScale="1">
        <p:scale>
          <a:sx n="106" d="100"/>
          <a:sy n="106" d="100"/>
        </p:scale>
        <p:origin x="1336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DA6469-EE80-154E-9560-08DF8940ED54}" type="datetimeFigureOut">
              <a:rPr lang="ru-KZ" smtClean="0"/>
              <a:t>27.11.2025</a:t>
            </a:fld>
            <a:endParaRPr lang="ru-KZ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KZ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C14F8F-2660-D444-8817-10C1844939AC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194845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C14F8F-2660-D444-8817-10C1844939AC}" type="slidenum">
              <a:rPr lang="ru-KZ" smtClean="0"/>
              <a:t>7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5757281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34177-D94F-20A5-46B2-6E451E94C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B24238B-C193-B791-2E1A-F15C6DB337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3C096B1-9ACA-3BBB-4D7F-B43857176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445ADA9-E528-98CC-2F02-731560F496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C14F8F-2660-D444-8817-10C1844939AC}" type="slidenum">
              <a:rPr lang="ru-KZ" smtClean="0"/>
              <a:t>9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989863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C14F8F-2660-D444-8817-10C1844939AC}" type="slidenum">
              <a:rPr lang="ru-KZ" smtClean="0"/>
              <a:t>11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4051363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B8948-CC70-9FC4-2BE1-71FC74054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9ABFA09-4BA1-A590-9239-637DAB09ED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354B97C-123C-344D-FF8F-3BF0553AEA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0C07A93-F8D5-91D9-3454-EAD347A895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C14F8F-2660-D444-8817-10C1844939AC}" type="slidenum">
              <a:rPr lang="ru-KZ" smtClean="0"/>
              <a:t>13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3952123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0486A-6C68-B2BB-BD7C-34BC17FB7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1A51418-5B26-5B61-0B5D-E5701345DC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61AEA47-5156-58D8-BE18-AE377773DF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4EBC9F5-949D-5AFF-F447-360B41000E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C14F8F-2660-D444-8817-10C1844939AC}" type="slidenum">
              <a:rPr lang="ru-KZ" smtClean="0"/>
              <a:t>15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5674578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27E72-262D-AFC4-6EBB-AE3D5DC04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35B88FC-3D1B-311A-EB72-F16B0AE252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A7B7797-27B0-9189-8B3F-18EBBFC8AB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249E8FC-B51D-D3F0-68A7-ED8EAD1365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C14F8F-2660-D444-8817-10C1844939AC}" type="slidenum">
              <a:rPr lang="ru-KZ" smtClean="0"/>
              <a:t>16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7629631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6C2A5-40FA-C5CC-2B69-9C711F1C1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9B41573-3814-FB9F-6E69-2778D4549F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D802978-B1F2-1DD1-2569-32CE081D23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110054-9A5B-1238-A33D-4C261A5D47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C14F8F-2660-D444-8817-10C1844939AC}" type="slidenum">
              <a:rPr lang="ru-KZ" smtClean="0"/>
              <a:t>17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1618848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42C18F-B273-C99A-4FDE-24D9067CC6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B8BA91C-40EB-CCA4-CF75-6B3FE19A1E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564460E-2123-48F4-84C7-0C7BF8AA1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00B5E-699A-2840-A745-AF8726588825}" type="datetimeFigureOut">
              <a:rPr lang="ru-KZ" smtClean="0"/>
              <a:t>27.11.2025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79E9E33-BE85-4727-A75D-67B307491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E2D9CE5-CBB9-0966-47C2-BBB811545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253C4-F7C7-0B40-93CE-2A2A282B6101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765215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38B282-8F15-8198-8657-1F55BEA3F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9D4811-9D7A-FD5F-75F4-052C43B47B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A9D4397-3896-03F9-9EC4-BFB4F2758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00B5E-699A-2840-A745-AF8726588825}" type="datetimeFigureOut">
              <a:rPr lang="ru-KZ" smtClean="0"/>
              <a:t>27.11.2025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8734AA4-C415-D656-872F-7D2DE416A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4A3FAC-0A23-B869-4B0F-5029E1BFC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253C4-F7C7-0B40-93CE-2A2A282B6101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753993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7ED81A-314C-8780-3418-7E62CAE0B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B9714D6-ABDB-606E-D525-DA6C16DEF9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D39F679-1F7F-41AA-9A8C-9E4AAC87D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00B5E-699A-2840-A745-AF8726588825}" type="datetimeFigureOut">
              <a:rPr lang="ru-KZ" smtClean="0"/>
              <a:t>27.11.2025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8CB28A-EB76-FC63-3E90-7AF26D07D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471982A-0BE9-9041-CC66-7DACFBBE4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253C4-F7C7-0B40-93CE-2A2A282B6101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61731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1FB55E-8143-9E46-27EB-128FA6C2C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9030C6-3340-E2BD-3F1A-E57983BD2A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E27384D-D6D2-CD17-244D-3FAF2DAA06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832652B-26E7-8736-AF8A-E6F563FA1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00B5E-699A-2840-A745-AF8726588825}" type="datetimeFigureOut">
              <a:rPr lang="ru-KZ" smtClean="0"/>
              <a:t>27.11.2025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DB970D9-6CC5-814D-0BAD-6C9C2F1C2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3C50F41-1727-6832-6010-66F3BC2F9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253C4-F7C7-0B40-93CE-2A2A282B6101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965898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B2E4D1-E2E1-9AA5-7562-448441F09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E4569A9-4EE3-7F74-77D6-A000C68568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FD7CE87-1187-3DD5-E4BB-262BB35DC1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EF10DC7-5079-63CD-ADE2-D94F2D2811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7700769-D8C3-E95D-C518-772090994D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2C69216-52CB-76B7-F945-D5B94AF70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00B5E-699A-2840-A745-AF8726588825}" type="datetimeFigureOut">
              <a:rPr lang="ru-KZ" smtClean="0"/>
              <a:t>27.11.2025</a:t>
            </a:fld>
            <a:endParaRPr lang="ru-KZ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99D381C-D9CF-C357-93EC-FFD5081FD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B514DC1-E04A-0A88-5A97-2BEE5494B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253C4-F7C7-0B40-93CE-2A2A282B6101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04997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F0434B-795D-AC36-EE6D-4884840EF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21D7138-BB63-149B-29C7-F13C04C3F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00B5E-699A-2840-A745-AF8726588825}" type="datetimeFigureOut">
              <a:rPr lang="ru-KZ" smtClean="0"/>
              <a:t>27.11.2025</a:t>
            </a:fld>
            <a:endParaRPr lang="ru-KZ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DFBBD06-46D1-11FE-C4A0-C0FFD5418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C562BBD-58B2-D877-A977-A9E3C585A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253C4-F7C7-0B40-93CE-2A2A282B6101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014308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9E1F6E7-DE6C-6588-007E-1D132390B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00B5E-699A-2840-A745-AF8726588825}" type="datetimeFigureOut">
              <a:rPr lang="ru-KZ" smtClean="0"/>
              <a:t>27.11.2025</a:t>
            </a:fld>
            <a:endParaRPr lang="ru-KZ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B075872-523C-111A-D794-D376638A4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16E54B7-BA47-1C83-D822-DC170B86F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253C4-F7C7-0B40-93CE-2A2A282B6101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503557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29D954-79C5-B45C-8874-6673E1CEF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85F4EC-897E-EB7F-BD8C-F875951DD3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4DA1987-7849-F96E-1A18-DCAD473267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CD872F2-7C92-5592-5DDD-60A7C481F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00B5E-699A-2840-A745-AF8726588825}" type="datetimeFigureOut">
              <a:rPr lang="ru-KZ" smtClean="0"/>
              <a:t>27.11.2025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9E5DC6A-65ED-A0C5-33F8-24ADDA4E4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B3CDDB4-7A62-7D0D-6789-2924A3477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253C4-F7C7-0B40-93CE-2A2A282B6101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066447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9EF648-9306-484A-A834-87FA65BAD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EEDA7E5-59CE-B80B-4D9D-9775DD9F74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6C8D03B-B55D-207D-9407-8702F06A9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5656C09-470E-B68C-D133-29F91B3D2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00B5E-699A-2840-A745-AF8726588825}" type="datetimeFigureOut">
              <a:rPr lang="ru-KZ" smtClean="0"/>
              <a:t>27.11.2025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1A4D3AD-CD49-0497-B005-1760E46CE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E24D97E-C674-7178-3D94-F7442249A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253C4-F7C7-0B40-93CE-2A2A282B6101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212490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F67C0D-C862-B35D-9A9C-78C582FDC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C6F2541-6D4C-1408-642C-2560A011C1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79F2850-6752-77FE-2FC0-5166CB267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00B5E-699A-2840-A745-AF8726588825}" type="datetimeFigureOut">
              <a:rPr lang="ru-KZ" smtClean="0"/>
              <a:t>27.11.2025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95D552B-8C3C-83AB-205D-A65F9917F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5D4AB8-6063-02A8-E736-D0C6ABE42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253C4-F7C7-0B40-93CE-2A2A282B6101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962035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F13C31D-4777-7FAD-1C52-9A6AE1E2CE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6EE3A75-6423-EC6B-8071-DA44EAD2A9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9424456-A77A-AA95-BED2-719180465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00B5E-699A-2840-A745-AF8726588825}" type="datetimeFigureOut">
              <a:rPr lang="ru-KZ" smtClean="0"/>
              <a:t>27.11.2025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3062BDD-B5DD-5FAB-4D10-7FE488134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70B16F0-2996-BBFC-BCF9-1D3F1EB0E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253C4-F7C7-0B40-93CE-2A2A282B6101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507107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BF7B8B-C1BD-7332-2CA1-89713D460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9DB0355-7537-E491-FC52-CC543D5324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D82D77B-A1E1-350C-5F65-4FB9AE8DE9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900B5E-699A-2840-A745-AF8726588825}" type="datetimeFigureOut">
              <a:rPr lang="ru-KZ" smtClean="0"/>
              <a:t>27.11.2025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7C805D-F476-7015-A7D4-A2954BC306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8433BC3-B644-7219-6BCE-5F5CDBAE7B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7253C4-F7C7-0B40-93CE-2A2A282B6101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947492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K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CA6B47-DD1E-04C0-9241-DC9A4FE8C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59EF30C2-29AC-4A0D-BC0A-A679CF113E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00500" y="1087403"/>
            <a:ext cx="8191500" cy="5770597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84985E-B8F3-B6C0-2651-9A2BE8DC7853}"/>
              </a:ext>
            </a:extLst>
          </p:cNvPr>
          <p:cNvSpPr txBox="1"/>
          <p:nvPr/>
        </p:nvSpPr>
        <p:spPr>
          <a:xfrm>
            <a:off x="5093520" y="2744662"/>
            <a:ext cx="6589707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1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Многопоточность</a:t>
            </a:r>
            <a:r>
              <a:rPr lang="en-US" sz="5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. </a:t>
            </a:r>
            <a:r>
              <a:rPr lang="ru-RU" sz="5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Асинхронные</a:t>
            </a:r>
            <a:r>
              <a:rPr lang="en-US" sz="5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ru-RU" sz="5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вызовы</a:t>
            </a:r>
            <a:endParaRPr lang="en-US" sz="51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66A0658-1CC4-4B0D-AAB7-A702286AF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6241" y="18393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A04F1504-431A-4D86-9091-AE7E4B333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2348" y="1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EA804283-B929-4503-802F-4585376E2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AD3811F5-514E-49A4-B382-673ED228A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69044" y="514898"/>
            <a:ext cx="2393351" cy="232842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67AD921-1CEE-4C1B-9AA3-C66D908DD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49740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3" name="Arc 42">
            <a:extLst>
              <a:ext uri="{FF2B5EF4-FFF2-40B4-BE49-F238E27FC236}">
                <a16:creationId xmlns:a16="http://schemas.microsoft.com/office/drawing/2014/main" id="{C36A08F5-3B56-47C5-A371-9187BE56E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539683" y="4203427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6B62E0-4664-45A1-0409-52AAAF2171DC}"/>
              </a:ext>
            </a:extLst>
          </p:cNvPr>
          <p:cNvSpPr txBox="1"/>
          <p:nvPr/>
        </p:nvSpPr>
        <p:spPr>
          <a:xfrm>
            <a:off x="10405240" y="6219663"/>
            <a:ext cx="1682633" cy="5698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ru-RU" sz="1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Базаров Александр</a:t>
            </a:r>
            <a:endParaRPr lang="en-US" sz="12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64557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43AC32-22D2-6E49-D600-3E4C36E4F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FBB7C43-5926-1133-8070-5DD5E16205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2ED5D4F-6674-39AD-BF60-8B1EFFF08F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C596C82-9756-FBD7-D3B8-12884EFE5B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B824FDDE-D85A-654F-FCC3-BB9338F29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7C8FB0F-91AF-B6F8-7C31-BE702B13F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CFFE153-6D85-6035-6BAA-3DA1384105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27A9455-924E-7213-7B5E-520FBE1852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46D174F8-6205-FE11-5E90-BE5CB91547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A1BA4F2-331F-1B19-2573-D5BECC50EA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608074D-BA22-2845-2DC1-DFC6C14772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439" y="2095097"/>
            <a:ext cx="5761561" cy="834183"/>
          </a:xfrm>
          <a:effectLst>
            <a:glow rad="1150817">
              <a:schemeClr val="bg1"/>
            </a:glow>
          </a:effectLst>
        </p:spPr>
        <p:txBody>
          <a:bodyPr>
            <a:noAutofit/>
          </a:bodyPr>
          <a:lstStyle/>
          <a:p>
            <a:pPr lvl="0"/>
            <a:r>
              <a:rPr lang="ru-KZ" sz="1400" b="1" dirty="0"/>
              <a:t>Изучить базовые принципы многопоточности и конкуренции</a:t>
            </a:r>
            <a:r>
              <a:rPr lang="en-US" sz="1400" b="1" dirty="0"/>
              <a:t>.</a:t>
            </a:r>
            <a:r>
              <a:rPr lang="ru-KZ" sz="1400" b="1" dirty="0"/>
              <a:t> </a:t>
            </a:r>
            <a:endParaRPr lang="ru-KZ" sz="1400" dirty="0"/>
          </a:p>
          <a:p>
            <a:pPr lvl="0"/>
            <a:r>
              <a:rPr lang="ru-KZ" sz="1400" b="1" dirty="0"/>
              <a:t>Изучить подходы к работе с многопоточнстью на примере </a:t>
            </a:r>
            <a:r>
              <a:rPr lang="en-US" sz="1400" b="1" dirty="0" err="1"/>
              <a:t>tcp</a:t>
            </a:r>
            <a:r>
              <a:rPr lang="ru-KZ" sz="1400" b="1" dirty="0"/>
              <a:t>-сервера</a:t>
            </a:r>
            <a:r>
              <a:rPr lang="en-US" sz="1400" b="1" dirty="0"/>
              <a:t>.</a:t>
            </a:r>
            <a:endParaRPr lang="ru-KZ" sz="14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D78048-C8FB-3585-5A2B-82070D9CF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438" y="568048"/>
            <a:ext cx="5600012" cy="15270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Задачи доклада </a:t>
            </a:r>
            <a:endParaRPr lang="en-US" sz="36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258655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8719C7A-720C-74AF-FC41-9773216031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122" y="1331572"/>
            <a:ext cx="5768567" cy="3926557"/>
          </a:xfrm>
        </p:spPr>
        <p:txBody>
          <a:bodyPr>
            <a:normAutofit/>
          </a:bodyPr>
          <a:lstStyle/>
          <a:p>
            <a:r>
              <a:rPr lang="ru-KZ" sz="2000" b="1"/>
              <a:t>Параллелизм</a:t>
            </a:r>
            <a:r>
              <a:rPr lang="ru-KZ" sz="2000"/>
              <a:t> — это форма организации вычислений, при которой множество операций выполняются </a:t>
            </a:r>
            <a:r>
              <a:rPr lang="ru-KZ" sz="2000" i="1"/>
              <a:t>одновременно</a:t>
            </a:r>
            <a:r>
              <a:rPr lang="ru-KZ" sz="2000"/>
              <a:t> во времени, используя </a:t>
            </a:r>
            <a:r>
              <a:rPr lang="ru-KZ" sz="2000" i="1"/>
              <a:t>несколько независимых вычислительных ресурсов</a:t>
            </a:r>
            <a:endParaRPr lang="ru-KZ" sz="2000"/>
          </a:p>
          <a:p>
            <a:r>
              <a:rPr lang="ru-KZ" sz="2000" b="1"/>
              <a:t>Конкурентность (concurrency)</a:t>
            </a:r>
            <a:r>
              <a:rPr lang="ru-KZ" sz="2000"/>
              <a:t> — это свойство вычислительной системы выполнять </a:t>
            </a:r>
            <a:r>
              <a:rPr lang="ru-KZ" sz="2000" i="1"/>
              <a:t>несколько вычислительных процессов, задач или потоков в перекрывающиеся промежутки времени</a:t>
            </a:r>
            <a:r>
              <a:rPr lang="ru-KZ" sz="2000"/>
              <a:t>, независимо от того, выполняются ли они физически одновременно. </a:t>
            </a:r>
          </a:p>
          <a:p>
            <a:endParaRPr lang="ru-KZ" sz="2000"/>
          </a:p>
        </p:txBody>
      </p:sp>
    </p:spTree>
    <p:extLst>
      <p:ext uri="{BB962C8B-B14F-4D97-AF65-F5344CB8AC3E}">
        <p14:creationId xmlns:p14="http://schemas.microsoft.com/office/powerpoint/2010/main" val="1614181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EBE2ED-640D-A0A8-2EEB-343A6AF51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5D81CB2-C6D0-0F79-9D8D-40219BC98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B656751-1B05-D37C-C194-51B92D9546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9788DAC-6A96-F90E-19C5-B30E7E5CA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DAB07CF5-AAD8-9B02-9A68-C704BCD7B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4A0CBA0-BD2A-79C5-069D-74DB2012F7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554305B-29DA-1859-F29A-E9D9C392D3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F1329B8-99F0-2521-70C0-64AD9A4B9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7271F937-6939-C470-2FCD-0939EA3B1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BEB59BA5-AC93-DF1B-24DC-17A5EBCEE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F1CB66-EAA3-4B4D-7FBA-F506A6697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512" y="1331572"/>
            <a:ext cx="9138296" cy="4084445"/>
          </a:xfrm>
          <a:effectLst>
            <a:glow rad="1150817">
              <a:schemeClr val="bg1"/>
            </a:glow>
          </a:effectLst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" sz="1500"/>
              <a:t>while (true) {</a:t>
            </a:r>
            <a:br>
              <a:rPr lang="en" sz="1500"/>
            </a:br>
            <a:r>
              <a:rPr lang="en" sz="1500"/>
              <a:t>    Socket connection = </a:t>
            </a:r>
            <a:r>
              <a:rPr lang="en" sz="1500" err="1"/>
              <a:t>socket.accept</a:t>
            </a:r>
            <a:r>
              <a:rPr lang="en" sz="1500"/>
              <a:t>();</a:t>
            </a:r>
            <a:br>
              <a:rPr lang="en" sz="1500"/>
            </a:br>
            <a:r>
              <a:rPr lang="en" sz="1500"/>
              <a:t>    </a:t>
            </a:r>
            <a:br>
              <a:rPr lang="en" sz="1500"/>
            </a:br>
            <a:r>
              <a:rPr lang="en" sz="1500"/>
              <a:t>    </a:t>
            </a:r>
            <a:r>
              <a:rPr lang="en" sz="1500" err="1"/>
              <a:t>RedirectInfo</a:t>
            </a:r>
            <a:r>
              <a:rPr lang="en" sz="1500"/>
              <a:t> </a:t>
            </a:r>
            <a:r>
              <a:rPr lang="en" sz="1500" err="1"/>
              <a:t>redirectInfo</a:t>
            </a:r>
            <a:r>
              <a:rPr lang="en" sz="1500"/>
              <a:t> =</a:t>
            </a:r>
            <a:br>
              <a:rPr lang="en" sz="1500"/>
            </a:br>
            <a:r>
              <a:rPr lang="en" sz="1500"/>
              <a:t>            </a:t>
            </a:r>
            <a:r>
              <a:rPr lang="en" sz="1500" err="1"/>
              <a:t>parseInputStream</a:t>
            </a:r>
            <a:r>
              <a:rPr lang="en" sz="1500"/>
              <a:t>(</a:t>
            </a:r>
            <a:r>
              <a:rPr lang="en" sz="1500" err="1"/>
              <a:t>connection.getInputStream</a:t>
            </a:r>
            <a:r>
              <a:rPr lang="en" sz="1500"/>
              <a:t>());</a:t>
            </a:r>
            <a:br>
              <a:rPr lang="en" sz="1500"/>
            </a:br>
            <a:br>
              <a:rPr lang="en" sz="1500"/>
            </a:br>
            <a:r>
              <a:rPr lang="en" sz="1500"/>
              <a:t>    </a:t>
            </a:r>
            <a:r>
              <a:rPr lang="en" sz="1500" err="1"/>
              <a:t>OperatorResult</a:t>
            </a:r>
            <a:r>
              <a:rPr lang="en" sz="1500"/>
              <a:t> </a:t>
            </a:r>
            <a:r>
              <a:rPr lang="en" sz="1500" err="1"/>
              <a:t>operatorResult</a:t>
            </a:r>
            <a:r>
              <a:rPr lang="en" sz="1500"/>
              <a:t> =</a:t>
            </a:r>
            <a:br>
              <a:rPr lang="en" sz="1500"/>
            </a:br>
            <a:r>
              <a:rPr lang="en" sz="1500"/>
              <a:t>            </a:t>
            </a:r>
            <a:r>
              <a:rPr lang="en" sz="1500" err="1"/>
              <a:t>operatorClient.setRedirect</a:t>
            </a:r>
            <a:r>
              <a:rPr lang="en" sz="1500"/>
              <a:t>(</a:t>
            </a:r>
            <a:r>
              <a:rPr lang="en" sz="1500" err="1"/>
              <a:t>redirectInfo</a:t>
            </a:r>
            <a:r>
              <a:rPr lang="en" sz="1500"/>
              <a:t>);</a:t>
            </a:r>
            <a:br>
              <a:rPr lang="en" sz="1500"/>
            </a:br>
            <a:br>
              <a:rPr lang="en" sz="1500"/>
            </a:br>
            <a:r>
              <a:rPr lang="en" sz="1500"/>
              <a:t>    </a:t>
            </a:r>
            <a:r>
              <a:rPr lang="en" sz="1500" err="1"/>
              <a:t>RedirectResult</a:t>
            </a:r>
            <a:r>
              <a:rPr lang="en" sz="1500"/>
              <a:t> </a:t>
            </a:r>
            <a:r>
              <a:rPr lang="en" sz="1500" err="1"/>
              <a:t>redirectResult</a:t>
            </a:r>
            <a:r>
              <a:rPr lang="en" sz="1500"/>
              <a:t> =</a:t>
            </a:r>
            <a:br>
              <a:rPr lang="en" sz="1500"/>
            </a:br>
            <a:r>
              <a:rPr lang="en" sz="1500"/>
              <a:t>            </a:t>
            </a:r>
            <a:r>
              <a:rPr lang="en" sz="1500" err="1"/>
              <a:t>saveInDatabase</a:t>
            </a:r>
            <a:r>
              <a:rPr lang="en" sz="1500"/>
              <a:t>(</a:t>
            </a:r>
            <a:r>
              <a:rPr lang="en" sz="1500" err="1"/>
              <a:t>operatorResult</a:t>
            </a:r>
            <a:r>
              <a:rPr lang="en" sz="1500"/>
              <a:t>);</a:t>
            </a:r>
            <a:br>
              <a:rPr lang="en" sz="1500"/>
            </a:br>
            <a:br>
              <a:rPr lang="en" sz="1500"/>
            </a:br>
            <a:r>
              <a:rPr lang="en" sz="1500"/>
              <a:t>    </a:t>
            </a:r>
            <a:r>
              <a:rPr lang="en" sz="1500" err="1"/>
              <a:t>connection.getOutputStream</a:t>
            </a:r>
            <a:r>
              <a:rPr lang="en" sz="1500"/>
              <a:t>()</a:t>
            </a:r>
            <a:br>
              <a:rPr lang="en" sz="1500"/>
            </a:br>
            <a:r>
              <a:rPr lang="en" sz="1500"/>
              <a:t>            .write(</a:t>
            </a:r>
            <a:r>
              <a:rPr lang="en" sz="1500" err="1"/>
              <a:t>serializeResult</a:t>
            </a:r>
            <a:r>
              <a:rPr lang="en" sz="1500"/>
              <a:t>(</a:t>
            </a:r>
            <a:r>
              <a:rPr lang="en" sz="1500" err="1"/>
              <a:t>redirectResult</a:t>
            </a:r>
            <a:r>
              <a:rPr lang="en" sz="1500"/>
              <a:t>));</a:t>
            </a:r>
            <a:br>
              <a:rPr lang="en" sz="1500"/>
            </a:br>
            <a:br>
              <a:rPr lang="en" sz="1500"/>
            </a:br>
            <a:r>
              <a:rPr lang="en" sz="1500"/>
              <a:t>    </a:t>
            </a:r>
            <a:r>
              <a:rPr lang="en" sz="1500" err="1"/>
              <a:t>connection.getOutputStream</a:t>
            </a:r>
            <a:r>
              <a:rPr lang="en" sz="1500"/>
              <a:t>().flush();</a:t>
            </a:r>
            <a:br>
              <a:rPr lang="en" sz="1500"/>
            </a:br>
            <a:r>
              <a:rPr lang="en" sz="1500"/>
              <a:t>    </a:t>
            </a:r>
            <a:r>
              <a:rPr lang="en" sz="1500" err="1"/>
              <a:t>connection.close</a:t>
            </a:r>
            <a:r>
              <a:rPr lang="en" sz="1500"/>
              <a:t>();</a:t>
            </a:r>
            <a:br>
              <a:rPr lang="en" sz="1500"/>
            </a:br>
            <a:r>
              <a:rPr lang="en" sz="1500"/>
              <a:t>    </a:t>
            </a:r>
            <a:br>
              <a:rPr lang="en" sz="1500"/>
            </a:br>
            <a:r>
              <a:rPr lang="en" sz="1500"/>
              <a:t>}</a:t>
            </a:r>
          </a:p>
          <a:p>
            <a:endParaRPr lang="ru-KZ" sz="1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3178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A617E4-E231-769A-910B-C3A6DDB24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AC6764D-965D-0868-B42A-882EFDBD8A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9CCEAE9-5A9A-0F3E-2497-C4AA3DA34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1C0D4AC-C1EF-9EB8-DC6F-7A072A02D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0934F930-4279-12B2-CAA3-72996708B9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975ECAB-78C9-A425-4878-964695D8E4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022E2B6-96DD-E8D9-E059-6342695D68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1EF02BC-80AD-A4F9-5A2C-EF55183CD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1B4D1F05-D236-6CB5-1AB1-CF3619FF3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6656E6D-85DB-9BD5-DCE9-4FE60A1E6E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BF9846E-296B-58BA-90DE-C9CEC7C1E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439" y="2095097"/>
            <a:ext cx="5761561" cy="4084445"/>
          </a:xfrm>
          <a:effectLst>
            <a:glow rad="1150817">
              <a:schemeClr val="bg1"/>
            </a:glow>
          </a:effectLst>
        </p:spPr>
        <p:txBody>
          <a:bodyPr>
            <a:noAutofit/>
          </a:bodyPr>
          <a:lstStyle/>
          <a:p>
            <a:pPr lvl="0"/>
            <a:r>
              <a:rPr lang="ru-KZ" sz="1400" b="1"/>
              <a:t>Высокая нагрузка на сервер.</a:t>
            </a:r>
            <a:r>
              <a:rPr lang="ru-KZ" sz="1400"/>
              <a:t> Постоянный бесконечный цикл при интенсивном поступлении запросов создаёт серьёзную нагрузку на серверные ресурсы (процессорное время, память), так как все запросы обрабатываются одним потоком без перерывов.</a:t>
            </a:r>
          </a:p>
          <a:p>
            <a:pPr lvl="0"/>
            <a:r>
              <a:rPr lang="ru-KZ" sz="1400" b="1"/>
              <a:t>Риск исчерпания ресурсов.</a:t>
            </a:r>
            <a:r>
              <a:rPr lang="ru-KZ" sz="1400"/>
              <a:t> Каждый новый запрос требует памяти (для буферов, объектов и т.д.) и использует поток выполнения. В однопоточном варианте все запросы очередью занимают один поток, но при попытке параллельно обслужить множество клиентов последовательно можно быстро достичь предела возможностей сервера по памяти или CPU.</a:t>
            </a:r>
          </a:p>
          <a:p>
            <a:pPr lvl="0"/>
            <a:r>
              <a:rPr lang="ru-KZ" sz="1400" b="1"/>
              <a:t>Неотзывчивость системы.</a:t>
            </a:r>
            <a:r>
              <a:rPr lang="ru-KZ" sz="1400"/>
              <a:t> Если одновременно подключается слишком много клиентов, однопоточная система не успевает обработать их своевременно. Очередь запросов растёт, сервер начинает работать всё медленнее, может перестать отвечать на новые запросы и фактически стать недоступным для пользователей.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E28CAA-0EE4-6B6B-9232-5A646AE5E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438" y="568048"/>
            <a:ext cx="5600012" cy="15270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Минусы такого подхода</a:t>
            </a:r>
            <a:endParaRPr lang="en-US" sz="3600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77086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83ED44-D0DF-6042-C9D6-CF112C2B1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1510C91-08A4-CCD7-7E9D-BFAF74A0C0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61E76B4-5093-E601-8F2A-E2A295AE98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90DE97D-6F0C-6167-03BF-DAFF329B1C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F20A602A-AF92-5505-EB9F-99FF86B36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7F5070E-A76A-E004-70E4-050CE513E3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7DB59BB-E164-B8A4-9428-227455074E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134F1F0-493E-EC20-9870-844A9637D5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2CF1191A-2518-9C29-50BD-4CDF5526C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90EFE7C-940F-71D4-E35B-18799CA31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4882F14-3AEA-FE30-7EE8-98ED20F69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79" y="177800"/>
            <a:ext cx="6502400" cy="650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497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27F7A1-5739-EB44-13D3-4A2D3E230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E53E5CB-FF70-DAF8-3CBA-80B39712FE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C55D627-556A-38BD-3BE3-28C71311D2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08DC828-0A26-ED56-3FD0-0AB0DE353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7B4F615E-18DA-338D-BAEF-94758C0AF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5C0D9D1-7CC4-BEE4-1036-2AF929AB98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43E08E0-A975-811E-58E5-1BE6FA3355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630F27B-38EB-3483-16C0-EE6D8155CB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E6A8C7D-4206-084D-9E37-1001981688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AB6221B0-F984-2F43-1F14-5D1235844A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6082AA-E689-B8D2-5DDF-B365C1C35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361" y="1013255"/>
            <a:ext cx="9138296" cy="4897080"/>
          </a:xfrm>
          <a:effectLst>
            <a:glow rad="1150817">
              <a:schemeClr val="bg1"/>
            </a:glow>
          </a:effectLst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" sz="1400" i="1"/>
              <a:t>public static void </a:t>
            </a:r>
            <a:r>
              <a:rPr lang="en" sz="1400"/>
              <a:t>main(String[] </a:t>
            </a:r>
            <a:r>
              <a:rPr lang="en" sz="1400" err="1"/>
              <a:t>args</a:t>
            </a:r>
            <a:r>
              <a:rPr lang="en" sz="1400"/>
              <a:t>) {</a:t>
            </a:r>
            <a:br>
              <a:rPr lang="en" sz="1400"/>
            </a:br>
            <a:r>
              <a:rPr lang="en" sz="1400"/>
              <a:t>    </a:t>
            </a:r>
            <a:r>
              <a:rPr lang="en" sz="1400" i="1"/>
              <a:t>while </a:t>
            </a:r>
            <a:r>
              <a:rPr lang="en" sz="1400"/>
              <a:t>(</a:t>
            </a:r>
            <a:r>
              <a:rPr lang="en" sz="1400" i="1"/>
              <a:t>true</a:t>
            </a:r>
            <a:r>
              <a:rPr lang="en" sz="1400"/>
              <a:t>) {</a:t>
            </a:r>
            <a:br>
              <a:rPr lang="en" sz="1400"/>
            </a:br>
            <a:r>
              <a:rPr lang="en" sz="1400"/>
              <a:t>        Socket connection = </a:t>
            </a:r>
            <a:r>
              <a:rPr lang="en" sz="1400" err="1"/>
              <a:t>socket.accept</a:t>
            </a:r>
            <a:r>
              <a:rPr lang="en" sz="1400"/>
              <a:t>();</a:t>
            </a:r>
            <a:br>
              <a:rPr lang="en" sz="1400"/>
            </a:br>
            <a:r>
              <a:rPr lang="en" sz="1400"/>
              <a:t>        Thread handler = </a:t>
            </a:r>
            <a:r>
              <a:rPr lang="en" sz="1400" i="1"/>
              <a:t>new </a:t>
            </a:r>
            <a:r>
              <a:rPr lang="en" sz="1400"/>
              <a:t>Thread(() -&gt; </a:t>
            </a:r>
            <a:r>
              <a:rPr lang="en" sz="1400" i="1"/>
              <a:t>handle</a:t>
            </a:r>
            <a:r>
              <a:rPr lang="en" sz="1400"/>
              <a:t>(connection));</a:t>
            </a:r>
            <a:br>
              <a:rPr lang="en" sz="1400"/>
            </a:br>
            <a:r>
              <a:rPr lang="en" sz="1400"/>
              <a:t>        </a:t>
            </a:r>
            <a:r>
              <a:rPr lang="en" sz="1400" err="1"/>
              <a:t>handler.start</a:t>
            </a:r>
            <a:r>
              <a:rPr lang="en" sz="1400"/>
              <a:t>();</a:t>
            </a:r>
            <a:br>
              <a:rPr lang="en" sz="1400"/>
            </a:br>
            <a:r>
              <a:rPr lang="en" sz="1400"/>
              <a:t>    }</a:t>
            </a:r>
            <a:br>
              <a:rPr lang="en" sz="1400"/>
            </a:br>
            <a:r>
              <a:rPr lang="en" sz="1400"/>
              <a:t>}</a:t>
            </a:r>
            <a:br>
              <a:rPr lang="en" sz="1400"/>
            </a:br>
            <a:br>
              <a:rPr lang="en" sz="1400"/>
            </a:br>
            <a:r>
              <a:rPr lang="en" sz="1400" i="1"/>
              <a:t>private static void </a:t>
            </a:r>
            <a:r>
              <a:rPr lang="en" sz="1400"/>
              <a:t>handle(Connection connection) {</a:t>
            </a:r>
            <a:br>
              <a:rPr lang="en" sz="1400"/>
            </a:br>
            <a:r>
              <a:rPr lang="en" sz="1400"/>
              <a:t>    </a:t>
            </a:r>
            <a:r>
              <a:rPr lang="en" sz="1400" err="1"/>
              <a:t>RedirectInfo</a:t>
            </a:r>
            <a:r>
              <a:rPr lang="en" sz="1400"/>
              <a:t> </a:t>
            </a:r>
            <a:r>
              <a:rPr lang="en" sz="1400" err="1"/>
              <a:t>redirectInfo</a:t>
            </a:r>
            <a:r>
              <a:rPr lang="en" sz="1400"/>
              <a:t> =</a:t>
            </a:r>
            <a:br>
              <a:rPr lang="en" sz="1400"/>
            </a:br>
            <a:r>
              <a:rPr lang="en" sz="1400"/>
              <a:t>            </a:t>
            </a:r>
            <a:r>
              <a:rPr lang="en" sz="1400" err="1"/>
              <a:t>parseInputStream</a:t>
            </a:r>
            <a:r>
              <a:rPr lang="en" sz="1400"/>
              <a:t>(</a:t>
            </a:r>
            <a:r>
              <a:rPr lang="en" sz="1400" err="1"/>
              <a:t>connection.getInputStream</a:t>
            </a:r>
            <a:r>
              <a:rPr lang="en" sz="1400"/>
              <a:t>());</a:t>
            </a:r>
            <a:br>
              <a:rPr lang="en" sz="1400"/>
            </a:br>
            <a:br>
              <a:rPr lang="en" sz="1400"/>
            </a:br>
            <a:r>
              <a:rPr lang="en" sz="1400"/>
              <a:t>    </a:t>
            </a:r>
            <a:r>
              <a:rPr lang="en" sz="1400" err="1"/>
              <a:t>OperatorResult</a:t>
            </a:r>
            <a:r>
              <a:rPr lang="en" sz="1400"/>
              <a:t> </a:t>
            </a:r>
            <a:r>
              <a:rPr lang="en" sz="1400" err="1"/>
              <a:t>operatorResult</a:t>
            </a:r>
            <a:r>
              <a:rPr lang="en" sz="1400"/>
              <a:t> =</a:t>
            </a:r>
            <a:br>
              <a:rPr lang="en" sz="1400"/>
            </a:br>
            <a:r>
              <a:rPr lang="en" sz="1400"/>
              <a:t>            </a:t>
            </a:r>
            <a:r>
              <a:rPr lang="en" sz="1400" err="1"/>
              <a:t>operatorClient.setRedirect</a:t>
            </a:r>
            <a:r>
              <a:rPr lang="en" sz="1400"/>
              <a:t>(</a:t>
            </a:r>
            <a:r>
              <a:rPr lang="en" sz="1400" err="1"/>
              <a:t>redirectInfo</a:t>
            </a:r>
            <a:r>
              <a:rPr lang="en" sz="1400"/>
              <a:t>);</a:t>
            </a:r>
            <a:br>
              <a:rPr lang="en" sz="1400"/>
            </a:br>
            <a:br>
              <a:rPr lang="en" sz="1400"/>
            </a:br>
            <a:r>
              <a:rPr lang="en" sz="1400"/>
              <a:t>    </a:t>
            </a:r>
            <a:r>
              <a:rPr lang="en" sz="1400" err="1"/>
              <a:t>RedirectResult</a:t>
            </a:r>
            <a:r>
              <a:rPr lang="en" sz="1400"/>
              <a:t> </a:t>
            </a:r>
            <a:r>
              <a:rPr lang="en" sz="1400" err="1"/>
              <a:t>redirectResult</a:t>
            </a:r>
            <a:r>
              <a:rPr lang="en" sz="1400"/>
              <a:t> =</a:t>
            </a:r>
            <a:br>
              <a:rPr lang="en" sz="1400"/>
            </a:br>
            <a:r>
              <a:rPr lang="en" sz="1400"/>
              <a:t>            </a:t>
            </a:r>
            <a:r>
              <a:rPr lang="en" sz="1400" err="1"/>
              <a:t>saveInDatabase</a:t>
            </a:r>
            <a:r>
              <a:rPr lang="en" sz="1400"/>
              <a:t>(</a:t>
            </a:r>
            <a:r>
              <a:rPr lang="en" sz="1400" err="1"/>
              <a:t>operatorResult</a:t>
            </a:r>
            <a:r>
              <a:rPr lang="en" sz="1400"/>
              <a:t>);</a:t>
            </a:r>
            <a:br>
              <a:rPr lang="en" sz="1400"/>
            </a:br>
            <a:br>
              <a:rPr lang="en" sz="1400"/>
            </a:br>
            <a:r>
              <a:rPr lang="en" sz="1400"/>
              <a:t>    </a:t>
            </a:r>
            <a:r>
              <a:rPr lang="en" sz="1400" err="1"/>
              <a:t>connection.getOutputStream</a:t>
            </a:r>
            <a:r>
              <a:rPr lang="en" sz="1400"/>
              <a:t>()</a:t>
            </a:r>
            <a:br>
              <a:rPr lang="en" sz="1400"/>
            </a:br>
            <a:r>
              <a:rPr lang="en" sz="1400"/>
              <a:t>            .write(</a:t>
            </a:r>
            <a:r>
              <a:rPr lang="en" sz="1400" err="1"/>
              <a:t>serializeResult</a:t>
            </a:r>
            <a:r>
              <a:rPr lang="en" sz="1400"/>
              <a:t>(</a:t>
            </a:r>
            <a:r>
              <a:rPr lang="en" sz="1400" err="1"/>
              <a:t>redirectResult</a:t>
            </a:r>
            <a:r>
              <a:rPr lang="en" sz="1400"/>
              <a:t>));</a:t>
            </a:r>
            <a:br>
              <a:rPr lang="en" sz="1400"/>
            </a:br>
            <a:br>
              <a:rPr lang="en" sz="1400"/>
            </a:br>
            <a:r>
              <a:rPr lang="en" sz="1400"/>
              <a:t>    </a:t>
            </a:r>
            <a:r>
              <a:rPr lang="en" sz="1400" err="1"/>
              <a:t>connection.getOutputStream</a:t>
            </a:r>
            <a:r>
              <a:rPr lang="en" sz="1400"/>
              <a:t>().flush();</a:t>
            </a:r>
            <a:br>
              <a:rPr lang="en" sz="1400"/>
            </a:br>
            <a:r>
              <a:rPr lang="en" sz="1400"/>
              <a:t>    </a:t>
            </a:r>
            <a:r>
              <a:rPr lang="en" sz="1400" err="1"/>
              <a:t>connection.close</a:t>
            </a:r>
            <a:r>
              <a:rPr lang="en" sz="1400"/>
              <a:t>();</a:t>
            </a:r>
            <a:br>
              <a:rPr lang="en" sz="1400"/>
            </a:br>
            <a:r>
              <a:rPr lang="en" sz="1400"/>
              <a:t>}</a:t>
            </a:r>
            <a:br>
              <a:rPr lang="en" sz="1400"/>
            </a:br>
            <a:endParaRPr lang="en" sz="1400"/>
          </a:p>
          <a:p>
            <a:endParaRPr lang="ru-KZ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087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7E8826-0C64-6522-8457-E2EED63ED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8DB8830-FF0F-1EED-183B-6201E45722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0D3A9C1-4F94-4FEC-EAA2-3022A807F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19B49AC-E647-58F8-FECE-6124970F9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0292B4DD-2A88-2C2A-BAF3-FB915A502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42EB7F2F-009A-4334-588E-48A76751C5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B174E18-3C54-4D68-863F-CB17A3CD9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D063255-E137-4322-BDD6-4A768551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3A082AE7-3749-D99A-355B-7BABFBE143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ABA60217-825D-285F-3E19-7388DE51C8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3B0FFE9-9633-1D16-990B-C76F04CB7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439" y="2095097"/>
            <a:ext cx="5761561" cy="4084445"/>
          </a:xfrm>
          <a:effectLst>
            <a:glow rad="1150817">
              <a:schemeClr val="bg1"/>
            </a:glow>
          </a:effectLst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600" b="1"/>
              <a:t>Высокая нагрузка на сервер</a:t>
            </a:r>
            <a:endParaRPr lang="ru-RU" sz="1600"/>
          </a:p>
          <a:p>
            <a:pPr marL="0" indent="0">
              <a:buNone/>
            </a:pPr>
            <a:r>
              <a:rPr lang="ru-RU" sz="1600"/>
              <a:t>Постоянный цикл без ограничений создаёт серьёзную нагрузку на сервер и увеличивает расход ресурсов.</a:t>
            </a:r>
            <a:br>
              <a:rPr lang="ru-RU" sz="1600"/>
            </a:br>
            <a:endParaRPr lang="ru-RU" sz="1600"/>
          </a:p>
          <a:p>
            <a:pPr marL="0" indent="0">
              <a:buNone/>
            </a:pPr>
            <a:r>
              <a:rPr lang="ru-RU" sz="1600" b="1"/>
              <a:t>Риск переполнения ресурсов</a:t>
            </a:r>
            <a:endParaRPr lang="ru-RU" sz="1600"/>
          </a:p>
          <a:p>
            <a:pPr marL="0" indent="0">
              <a:buNone/>
            </a:pPr>
            <a:r>
              <a:rPr lang="ru-RU" sz="1600"/>
              <a:t>Каждое новое соединение жрёт память и потоки, поэтому можно легко уткнуться в потолок ресурсов сервера.</a:t>
            </a:r>
            <a:br>
              <a:rPr lang="ru-RU" sz="1600"/>
            </a:br>
            <a:endParaRPr lang="ru-RU" sz="1600"/>
          </a:p>
          <a:p>
            <a:pPr marL="0" indent="0">
              <a:buNone/>
            </a:pPr>
            <a:r>
              <a:rPr lang="ru-RU" sz="1600" b="1"/>
              <a:t>Недоступность системы</a:t>
            </a:r>
          </a:p>
          <a:p>
            <a:pPr marL="0" indent="0">
              <a:buNone/>
            </a:pPr>
            <a:r>
              <a:rPr lang="ru-RU" sz="1600"/>
              <a:t>Если одновременно подключится слишком много клиентов, система может начать тупить, перестать отвечать и вообще стать недоступной.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DC1DB0-337E-616D-C0BD-9303E61A4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438" y="568048"/>
            <a:ext cx="5600012" cy="15270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Минусы такого подхода</a:t>
            </a:r>
            <a:endParaRPr lang="en-US" sz="3600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561454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F084AA-DFBD-55F5-E93B-64B1397EC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F06F76E-FBF4-DE5C-BAF4-0DD61B395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80E66F2-D315-3382-3922-F00D05F8F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23E846D-B96E-2F58-B70B-A580440512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D0311612-E950-4D59-4A12-BC5E80D3B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4BA5592-A953-BED4-418E-9D73413D12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84F72BD-4BEF-A03E-57CB-4E35F6B117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B7C0FBC-0455-767D-98D0-29588547B3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5D8F6309-97CA-D1C0-C98C-8C4E77C472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20F2F518-4B1C-0D40-D0E2-776A6D78E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A7AD62-6F4E-A568-FAFE-136C43BFC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361" y="1013255"/>
            <a:ext cx="9138296" cy="4897080"/>
          </a:xfrm>
          <a:effectLst>
            <a:glow rad="1150817">
              <a:schemeClr val="bg1"/>
            </a:glow>
          </a:effectLst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" sz="1400"/>
              <a:t>public static void main(String[] </a:t>
            </a:r>
            <a:r>
              <a:rPr lang="en" sz="1400" err="1"/>
              <a:t>args</a:t>
            </a:r>
            <a:r>
              <a:rPr lang="en" sz="1400"/>
              <a:t>) {</a:t>
            </a:r>
            <a:br>
              <a:rPr lang="en" sz="1400"/>
            </a:br>
            <a:r>
              <a:rPr lang="en" sz="1400"/>
              <a:t>    var pool = </a:t>
            </a:r>
            <a:r>
              <a:rPr lang="en" sz="1400" err="1"/>
              <a:t>Executors.newFixedThreadPool</a:t>
            </a:r>
            <a:r>
              <a:rPr lang="en" sz="1400"/>
              <a:t>(5);</a:t>
            </a:r>
            <a:br>
              <a:rPr lang="en" sz="1400"/>
            </a:br>
            <a:br>
              <a:rPr lang="en" sz="1400"/>
            </a:br>
            <a:r>
              <a:rPr lang="en" sz="1400"/>
              <a:t>    while (true) {</a:t>
            </a:r>
            <a:br>
              <a:rPr lang="en" sz="1400"/>
            </a:br>
            <a:r>
              <a:rPr lang="en" sz="1400"/>
              <a:t>        Socket connection = </a:t>
            </a:r>
            <a:r>
              <a:rPr lang="en" sz="1400" err="1"/>
              <a:t>socket.accept</a:t>
            </a:r>
            <a:r>
              <a:rPr lang="en" sz="1400"/>
              <a:t>();</a:t>
            </a:r>
            <a:br>
              <a:rPr lang="en" sz="1400"/>
            </a:br>
            <a:r>
              <a:rPr lang="en" sz="1400"/>
              <a:t>        </a:t>
            </a:r>
            <a:r>
              <a:rPr lang="en" sz="1400" err="1"/>
              <a:t>pool.submit</a:t>
            </a:r>
            <a:r>
              <a:rPr lang="en" sz="1400"/>
              <a:t>(() -&gt; handle(connection));</a:t>
            </a:r>
            <a:br>
              <a:rPr lang="en" sz="1400"/>
            </a:br>
            <a:r>
              <a:rPr lang="en" sz="1400"/>
              <a:t>    }</a:t>
            </a:r>
            <a:br>
              <a:rPr lang="en" sz="1400"/>
            </a:br>
            <a:r>
              <a:rPr lang="en" sz="1400"/>
              <a:t>}</a:t>
            </a:r>
            <a:br>
              <a:rPr lang="en" sz="1400"/>
            </a:br>
            <a:br>
              <a:rPr lang="en" sz="1400"/>
            </a:br>
            <a:r>
              <a:rPr lang="en" sz="1400"/>
              <a:t>private static void handle(Connection connection) {</a:t>
            </a:r>
            <a:br>
              <a:rPr lang="en" sz="1400"/>
            </a:br>
            <a:r>
              <a:rPr lang="en" sz="1400"/>
              <a:t>    </a:t>
            </a:r>
            <a:r>
              <a:rPr lang="en" sz="1400" err="1"/>
              <a:t>RedirectInfo</a:t>
            </a:r>
            <a:r>
              <a:rPr lang="en" sz="1400"/>
              <a:t> </a:t>
            </a:r>
            <a:r>
              <a:rPr lang="en" sz="1400" err="1"/>
              <a:t>redirectInfo</a:t>
            </a:r>
            <a:r>
              <a:rPr lang="en" sz="1400"/>
              <a:t> =</a:t>
            </a:r>
            <a:br>
              <a:rPr lang="en" sz="1400"/>
            </a:br>
            <a:r>
              <a:rPr lang="en" sz="1400"/>
              <a:t>            </a:t>
            </a:r>
            <a:r>
              <a:rPr lang="en" sz="1400" err="1"/>
              <a:t>parseInputStream</a:t>
            </a:r>
            <a:r>
              <a:rPr lang="en" sz="1400"/>
              <a:t>(</a:t>
            </a:r>
            <a:r>
              <a:rPr lang="en" sz="1400" err="1"/>
              <a:t>connection.getInputStream</a:t>
            </a:r>
            <a:r>
              <a:rPr lang="en" sz="1400"/>
              <a:t>());</a:t>
            </a:r>
            <a:br>
              <a:rPr lang="en" sz="1400"/>
            </a:br>
            <a:br>
              <a:rPr lang="en" sz="1400"/>
            </a:br>
            <a:r>
              <a:rPr lang="en" sz="1400"/>
              <a:t>    </a:t>
            </a:r>
            <a:r>
              <a:rPr lang="en" sz="1400" err="1"/>
              <a:t>OperatorResult</a:t>
            </a:r>
            <a:r>
              <a:rPr lang="en" sz="1400"/>
              <a:t> </a:t>
            </a:r>
            <a:r>
              <a:rPr lang="en" sz="1400" err="1"/>
              <a:t>operatorResult</a:t>
            </a:r>
            <a:r>
              <a:rPr lang="en" sz="1400"/>
              <a:t> =</a:t>
            </a:r>
            <a:br>
              <a:rPr lang="en" sz="1400"/>
            </a:br>
            <a:r>
              <a:rPr lang="en" sz="1400"/>
              <a:t>            </a:t>
            </a:r>
            <a:r>
              <a:rPr lang="en" sz="1400" err="1"/>
              <a:t>operatorClient.setRedirect</a:t>
            </a:r>
            <a:r>
              <a:rPr lang="en" sz="1400"/>
              <a:t>(</a:t>
            </a:r>
            <a:r>
              <a:rPr lang="en" sz="1400" err="1"/>
              <a:t>redirectInfo</a:t>
            </a:r>
            <a:r>
              <a:rPr lang="en" sz="1400"/>
              <a:t>);</a:t>
            </a:r>
            <a:br>
              <a:rPr lang="en" sz="1400"/>
            </a:br>
            <a:br>
              <a:rPr lang="en" sz="1400"/>
            </a:br>
            <a:r>
              <a:rPr lang="en" sz="1400"/>
              <a:t>    </a:t>
            </a:r>
            <a:r>
              <a:rPr lang="en" sz="1400" err="1"/>
              <a:t>RedirectResult</a:t>
            </a:r>
            <a:r>
              <a:rPr lang="en" sz="1400"/>
              <a:t> </a:t>
            </a:r>
            <a:r>
              <a:rPr lang="en" sz="1400" err="1"/>
              <a:t>redirectResult</a:t>
            </a:r>
            <a:r>
              <a:rPr lang="en" sz="1400"/>
              <a:t> =</a:t>
            </a:r>
            <a:br>
              <a:rPr lang="en" sz="1400"/>
            </a:br>
            <a:r>
              <a:rPr lang="en" sz="1400"/>
              <a:t>            </a:t>
            </a:r>
            <a:r>
              <a:rPr lang="en" sz="1400" err="1"/>
              <a:t>saveInDatabase</a:t>
            </a:r>
            <a:r>
              <a:rPr lang="en" sz="1400"/>
              <a:t>(</a:t>
            </a:r>
            <a:r>
              <a:rPr lang="en" sz="1400" err="1"/>
              <a:t>operatorResult</a:t>
            </a:r>
            <a:r>
              <a:rPr lang="en" sz="1400"/>
              <a:t>);</a:t>
            </a:r>
            <a:br>
              <a:rPr lang="en" sz="1400"/>
            </a:br>
            <a:br>
              <a:rPr lang="en" sz="1400"/>
            </a:br>
            <a:r>
              <a:rPr lang="en" sz="1400"/>
              <a:t>    </a:t>
            </a:r>
            <a:r>
              <a:rPr lang="en" sz="1400" err="1"/>
              <a:t>connection.getOutputStream</a:t>
            </a:r>
            <a:r>
              <a:rPr lang="en" sz="1400"/>
              <a:t>()</a:t>
            </a:r>
            <a:br>
              <a:rPr lang="en" sz="1400"/>
            </a:br>
            <a:r>
              <a:rPr lang="en" sz="1400"/>
              <a:t>            .write(</a:t>
            </a:r>
            <a:r>
              <a:rPr lang="en" sz="1400" err="1"/>
              <a:t>serializeResult</a:t>
            </a:r>
            <a:r>
              <a:rPr lang="en" sz="1400"/>
              <a:t>(</a:t>
            </a:r>
            <a:r>
              <a:rPr lang="en" sz="1400" err="1"/>
              <a:t>redirectResult</a:t>
            </a:r>
            <a:r>
              <a:rPr lang="en" sz="1400"/>
              <a:t>));</a:t>
            </a:r>
            <a:br>
              <a:rPr lang="en" sz="1400"/>
            </a:br>
            <a:br>
              <a:rPr lang="en" sz="1400"/>
            </a:br>
            <a:r>
              <a:rPr lang="en" sz="1400"/>
              <a:t>    </a:t>
            </a:r>
            <a:r>
              <a:rPr lang="en" sz="1400" err="1"/>
              <a:t>connection.getOutputStream</a:t>
            </a:r>
            <a:r>
              <a:rPr lang="en" sz="1400"/>
              <a:t>().flush();</a:t>
            </a:r>
            <a:br>
              <a:rPr lang="en" sz="1400"/>
            </a:br>
            <a:r>
              <a:rPr lang="en" sz="1400"/>
              <a:t>    </a:t>
            </a:r>
            <a:r>
              <a:rPr lang="en" sz="1400" err="1"/>
              <a:t>connection.close</a:t>
            </a:r>
            <a:r>
              <a:rPr lang="en" sz="1400"/>
              <a:t>();</a:t>
            </a:r>
            <a:br>
              <a:rPr lang="en" sz="1400"/>
            </a:br>
            <a:r>
              <a:rPr lang="en" sz="1400"/>
              <a:t>}</a:t>
            </a:r>
            <a:br>
              <a:rPr lang="en" sz="1400"/>
            </a:br>
            <a:br>
              <a:rPr lang="en" sz="1400"/>
            </a:br>
            <a:endParaRPr lang="en" sz="1400"/>
          </a:p>
        </p:txBody>
      </p:sp>
    </p:spTree>
    <p:extLst>
      <p:ext uri="{BB962C8B-B14F-4D97-AF65-F5344CB8AC3E}">
        <p14:creationId xmlns:p14="http://schemas.microsoft.com/office/powerpoint/2010/main" val="3158129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729B20-A5DB-41AC-BB0A-FEC565796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04E42B3-7344-8F72-CE3A-699ECEA285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7DF04C7-B22F-EDCE-6554-599E80E19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D736E8B-AE24-EDFB-7FD3-3CC03E3762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A0AB64B4-620D-3FA7-35D7-4C96DD5263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C490D08-ACFC-7629-BEDF-4704889F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14B607A-0F1D-1399-9400-F20989D8B8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206ACE3-0C3B-0715-190D-CD5E2CE3EB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DF546720-1F70-2179-89D1-7E147D821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2C11D3C-B30F-B01B-ED75-28B7EE3481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AEBE4F-80B8-5574-0DE9-CC9DB3EED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499" y="1550992"/>
            <a:ext cx="6669506" cy="47911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400" b="1"/>
              <a:t>Асинхронность</a:t>
            </a:r>
            <a:r>
              <a:rPr lang="ru-RU" sz="1400"/>
              <a:t> — это выполнение операций без ожидания в месте вызова, с последующим продолжением работы после получения результата.</a:t>
            </a:r>
          </a:p>
          <a:p>
            <a:endParaRPr lang="ru-RU" sz="1400"/>
          </a:p>
          <a:p>
            <a:pPr marL="0" indent="0">
              <a:buNone/>
            </a:pPr>
            <a:r>
              <a:rPr lang="ru-RU" sz="1400" b="1"/>
              <a:t>Операция передаётся диспетчеру (</a:t>
            </a:r>
            <a:r>
              <a:rPr lang="en" sz="1400" b="1"/>
              <a:t>event loop / </a:t>
            </a:r>
            <a:r>
              <a:rPr lang="ru-RU" sz="1400" b="1"/>
              <a:t>планировщику / </a:t>
            </a:r>
            <a:r>
              <a:rPr lang="en" sz="1400" b="1"/>
              <a:t>runtime)</a:t>
            </a:r>
            <a:endParaRPr lang="ru-RU" sz="1400" b="1"/>
          </a:p>
          <a:p>
            <a:pPr marL="0" indent="0">
              <a:buNone/>
            </a:pPr>
            <a:endParaRPr lang="en" sz="1400"/>
          </a:p>
          <a:p>
            <a:pPr marL="0" indent="0">
              <a:buNone/>
            </a:pPr>
            <a:r>
              <a:rPr lang="ru-RU" sz="1400" b="1"/>
              <a:t>Основной поток продолжает выполнять другие задачи</a:t>
            </a:r>
            <a:r>
              <a:rPr lang="ru-RU" sz="1400"/>
              <a:t>,</a:t>
            </a:r>
          </a:p>
          <a:p>
            <a:pPr marL="0" indent="0">
              <a:buNone/>
            </a:pPr>
            <a:r>
              <a:rPr lang="ru-RU" sz="1400"/>
              <a:t>не ожидая результата прямо здесь и сейчас.</a:t>
            </a:r>
          </a:p>
          <a:p>
            <a:pPr marL="0" indent="0">
              <a:buNone/>
            </a:pPr>
            <a:endParaRPr lang="ru-RU" sz="1400"/>
          </a:p>
          <a:p>
            <a:pPr marL="0" indent="0">
              <a:buNone/>
            </a:pPr>
            <a:r>
              <a:rPr lang="ru-RU" sz="1400" b="1"/>
              <a:t>Когда асинхронная операция завершена</a:t>
            </a:r>
            <a:r>
              <a:rPr lang="ru-RU" sz="1400"/>
              <a:t>,</a:t>
            </a:r>
          </a:p>
          <a:p>
            <a:pPr marL="0" indent="0">
              <a:buNone/>
            </a:pPr>
            <a:r>
              <a:rPr lang="ru-RU" sz="1400"/>
              <a:t>диспетчер «будит» код, который должен продолжить выполнение —</a:t>
            </a:r>
          </a:p>
          <a:p>
            <a:pPr marL="0" indent="0">
              <a:buNone/>
            </a:pPr>
            <a:r>
              <a:rPr lang="ru-RU" sz="1400"/>
              <a:t>это может быть </a:t>
            </a:r>
            <a:r>
              <a:rPr lang="en" sz="1400"/>
              <a:t>callback, future/promise </a:t>
            </a:r>
            <a:r>
              <a:rPr lang="ru-RU" sz="1400"/>
              <a:t>или </a:t>
            </a:r>
            <a:r>
              <a:rPr lang="en" sz="1400"/>
              <a:t>await.</a:t>
            </a:r>
            <a:endParaRPr lang="ru-RU" sz="1400"/>
          </a:p>
          <a:p>
            <a:pPr marL="0" indent="0">
              <a:buNone/>
            </a:pPr>
            <a:endParaRPr lang="en" sz="1400"/>
          </a:p>
          <a:p>
            <a:pPr marL="0" indent="0">
              <a:buNone/>
            </a:pPr>
            <a:r>
              <a:rPr lang="ru-RU" sz="1400" b="1"/>
              <a:t>Контекст выполнения восстанавливается</a:t>
            </a:r>
            <a:r>
              <a:rPr lang="ru-RU" sz="1400"/>
              <a:t>,</a:t>
            </a:r>
          </a:p>
          <a:p>
            <a:pPr marL="0" indent="0">
              <a:buNone/>
            </a:pPr>
            <a:r>
              <a:rPr lang="ru-RU" sz="1400"/>
              <a:t>и программа продолжает с того места, где остановилась.</a:t>
            </a:r>
          </a:p>
          <a:p>
            <a:endParaRPr lang="ru-RU" sz="1400"/>
          </a:p>
          <a:p>
            <a:endParaRPr lang="ru-RU" sz="1400"/>
          </a:p>
          <a:p>
            <a:endParaRPr lang="ru-RU" sz="140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F8DF05-59E9-17E4-52F1-E4963DE20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499" y="-1043"/>
            <a:ext cx="5916169" cy="15270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sz="3600" b="1"/>
              <a:t>Паттерн</a:t>
            </a:r>
            <a:r>
              <a:rPr lang="en" sz="3600" b="1"/>
              <a:t> Future</a:t>
            </a:r>
            <a:endParaRPr lang="en" sz="3600"/>
          </a:p>
        </p:txBody>
      </p:sp>
    </p:spTree>
    <p:extLst>
      <p:ext uri="{BB962C8B-B14F-4D97-AF65-F5344CB8AC3E}">
        <p14:creationId xmlns:p14="http://schemas.microsoft.com/office/powerpoint/2010/main" val="1177619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E56307-31BC-5CED-ECEA-BA0F0BD79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0395104-9CC2-5714-C405-CCD981C45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560B8A8-B460-3597-2A71-F5819A07F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0626A2D-009C-47A1-CB07-6F07F6D58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73D25208-E2EF-FBEE-0466-0725357CD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DA816BD-5232-65B6-0120-8C7F7DE00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C7625F0-AEFB-5CF6-5BDE-A4BFA2C51C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C3945BA-D44E-E8CF-B3CA-A46E421D6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E1235F97-95DC-2488-CE6E-6FF933C46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F6B19F2-727C-CDCC-4B14-90B939944A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CFE7B98-AFC9-571E-31FA-D5393899AA4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00"/>
                    </a14:imgEffect>
                    <a14:imgEffect>
                      <a14:brightnessContrast contrast="3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0979" y="177800"/>
            <a:ext cx="6502400" cy="6502400"/>
          </a:xfrm>
          <a:prstGeom prst="rect">
            <a:avLst/>
          </a:prstGeom>
          <a:effectLst>
            <a:glow>
              <a:schemeClr val="accent1">
                <a:alpha val="69000"/>
              </a:schemeClr>
            </a:glow>
            <a:reflection stA="0" endPos="6500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9682009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C190E3-2B04-8287-97D4-FA5C841D4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BD2E346-A33A-681B-CD4E-D8259061C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5CC4556-20D8-D7C5-88DB-CF77A15030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FB84CAD-6F3F-F668-4A16-8B4F8D869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1EB1C3D1-C5FE-4B77-7F58-8DDAFE1AC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1B1A854-64CA-BDC4-EDAD-CC156C42F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3FB1043-948A-7A25-DBA9-79DBD0F720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BD78C3AA-8253-397F-DF3F-2A48C3C67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E7164E63-0B83-A2C5-9FEE-7C308D4EF0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12182BB-9EF5-5A9C-8CC2-C3692A251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6D87DD-89D4-4EAB-7E3A-BE1C83322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499" y="859229"/>
            <a:ext cx="5916169" cy="15270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Сложности ручной обработки потоков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8B7E47B-443E-358E-8AEA-D231C1AEF297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321498" y="2470007"/>
            <a:ext cx="5916169" cy="40950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ru-RU" sz="1400" b="1"/>
              <a:t>Сложная синхронизация и управление состоянием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ru-RU" sz="1400"/>
              <a:t>Ручная работа с потоками требует много ресурсов для синхронизации и отслеживания состояния, что усложняет архитектуру.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ru-RU" sz="1400" b="1"/>
              <a:t>Ошибки гонок и блокировки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ru-RU" sz="1400"/>
              <a:t>Ручная обработка часто приводит к ошибкам гонок данных и взаимным блокировкам, что снижает стабильность программ.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ru-RU" sz="1400" b="1"/>
              <a:t>Проблемы масштабирования и производительности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ru-RU" sz="1400"/>
              <a:t>Масштабировать такие решения трудно, что отрицательно влияет на производительность системы и увеличивает время разработки.</a:t>
            </a:r>
          </a:p>
        </p:txBody>
      </p:sp>
    </p:spTree>
    <p:extLst>
      <p:ext uri="{BB962C8B-B14F-4D97-AF65-F5344CB8AC3E}">
        <p14:creationId xmlns:p14="http://schemas.microsoft.com/office/powerpoint/2010/main" val="32557502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70F1DA-109E-243B-D06D-FD3939197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D2BA07-9342-6C46-5F0B-29135D58D2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762A3D6-54DA-AA2B-738A-3F9C21E9F5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1427B59-B0EB-3D5B-4059-95D55CDC0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B448F420-C2B0-A10A-7471-A9E262A8D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7F563AD-0241-AC61-F8D2-45B7AB6010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B244220-DE2C-03F9-FC16-F68021F35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3B7363F-BE60-4D32-BAD8-B70BFF377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6EF5D899-26CE-6247-F8AE-EAEAFB4A1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C4172FB0-F493-52BE-12FE-A0552C408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8A1B1D0-2157-FF93-DF5D-8ACC3B5295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059" y="2860169"/>
            <a:ext cx="5281815" cy="1916025"/>
          </a:xfrm>
          <a:effectLst>
            <a:glow rad="1150817">
              <a:schemeClr val="bg1"/>
            </a:glow>
          </a:effectLst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" sz="1600"/>
              <a:t>public interface Future&lt;V&gt; {</a:t>
            </a:r>
            <a:br>
              <a:rPr lang="en" sz="1600"/>
            </a:br>
            <a:r>
              <a:rPr lang="en" sz="1600"/>
              <a:t>    </a:t>
            </a:r>
            <a:r>
              <a:rPr lang="en" sz="1600" err="1"/>
              <a:t>boolean</a:t>
            </a:r>
            <a:r>
              <a:rPr lang="en" sz="1600"/>
              <a:t> cancel(</a:t>
            </a:r>
            <a:r>
              <a:rPr lang="en" sz="1600" err="1"/>
              <a:t>boolean</a:t>
            </a:r>
            <a:r>
              <a:rPr lang="en" sz="1600"/>
              <a:t> </a:t>
            </a:r>
            <a:r>
              <a:rPr lang="en" sz="1600" err="1"/>
              <a:t>mayInterruptIfRunning</a:t>
            </a:r>
            <a:r>
              <a:rPr lang="en" sz="1600"/>
              <a:t>);</a:t>
            </a:r>
            <a:br>
              <a:rPr lang="en" sz="1600"/>
            </a:br>
            <a:br>
              <a:rPr lang="en" sz="1600"/>
            </a:br>
            <a:r>
              <a:rPr lang="en" sz="1600"/>
              <a:t>    </a:t>
            </a:r>
            <a:r>
              <a:rPr lang="en" sz="1600" err="1"/>
              <a:t>boolean</a:t>
            </a:r>
            <a:r>
              <a:rPr lang="en" sz="1600"/>
              <a:t> </a:t>
            </a:r>
            <a:r>
              <a:rPr lang="en" sz="1600" err="1"/>
              <a:t>isDone</a:t>
            </a:r>
            <a:r>
              <a:rPr lang="en" sz="1600"/>
              <a:t>();</a:t>
            </a:r>
            <a:br>
              <a:rPr lang="en" sz="1600"/>
            </a:br>
            <a:br>
              <a:rPr lang="en" sz="1600"/>
            </a:br>
            <a:r>
              <a:rPr lang="en" sz="1600"/>
              <a:t>    V get();</a:t>
            </a:r>
            <a:br>
              <a:rPr lang="en" sz="1600"/>
            </a:br>
            <a:r>
              <a:rPr lang="en" sz="1600"/>
              <a:t>}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0A685C-36AA-1073-2C80-EE68EC70E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059" y="666561"/>
            <a:ext cx="5916169" cy="15270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sz="3600" b="1"/>
              <a:t>Паттерн</a:t>
            </a:r>
            <a:r>
              <a:rPr lang="en" sz="3600" b="1"/>
              <a:t> Future</a:t>
            </a:r>
            <a:endParaRPr lang="en" sz="3600"/>
          </a:p>
        </p:txBody>
      </p:sp>
    </p:spTree>
    <p:extLst>
      <p:ext uri="{BB962C8B-B14F-4D97-AF65-F5344CB8AC3E}">
        <p14:creationId xmlns:p14="http://schemas.microsoft.com/office/powerpoint/2010/main" val="33778207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EF56D5-A5CE-4B72-C7E1-0D3E99D38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EE63509-C813-F089-5EEA-E6331D895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287948CE-8E1B-8003-DF68-6DEFD98C9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77EDD0C-C406-A008-942B-A07FFC02DD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D22A34F0-B8EA-36D8-F60D-3812C6B6B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9B9228A-D06A-B2CB-8C22-AD65A9322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D2BF114-0EAE-80A8-6EF1-5C5542109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AC17030-A58E-7470-7BE9-C00D734EE3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4B8FE6B8-84ED-919E-38A5-8C8FBEC865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239FDD1E-D462-D5B9-C20D-0C599300E2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4EF849-C177-B8B5-E22D-5ED4358A6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499" y="477998"/>
            <a:ext cx="5916169" cy="15270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b="1"/>
              <a:t>Completable</a:t>
            </a:r>
            <a:r>
              <a:rPr lang="en" sz="3600" b="1"/>
              <a:t>Future</a:t>
            </a:r>
            <a:endParaRPr lang="en" sz="360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F93B3A6-F3AA-F6BE-AFF0-FA88D633070C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321498" y="2088776"/>
            <a:ext cx="5916169" cy="409507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400" b="1"/>
              <a:t>Контролируемая асинхронность через </a:t>
            </a:r>
            <a:r>
              <a:rPr lang="en-US" sz="1400" b="1"/>
              <a:t>Completable</a:t>
            </a:r>
            <a:r>
              <a:rPr lang="en" sz="1400" b="1"/>
              <a:t>Future</a:t>
            </a:r>
            <a:endParaRPr lang="en" sz="1400"/>
          </a:p>
          <a:p>
            <a:pPr marL="0" indent="0">
              <a:buNone/>
            </a:pPr>
            <a:r>
              <a:rPr lang="en" sz="1400"/>
              <a:t>Continuable Future </a:t>
            </a:r>
            <a:r>
              <a:rPr lang="ru-RU" sz="1400"/>
              <a:t>позволяет продолжать выполнение задач по цепочке, не блокируя поток и не зависая в ожидании результата. Это снижает нагрузку и делает работу системы плавнее.</a:t>
            </a:r>
            <a:br>
              <a:rPr lang="ru-RU" sz="1400"/>
            </a:br>
            <a:endParaRPr lang="ru-RU" sz="1400"/>
          </a:p>
          <a:p>
            <a:pPr marL="0" indent="0">
              <a:buNone/>
            </a:pPr>
            <a:r>
              <a:rPr lang="ru-RU" sz="1400" b="1"/>
              <a:t>Снижение риска «подвисаний»</a:t>
            </a:r>
            <a:endParaRPr lang="ru-RU" sz="1400"/>
          </a:p>
          <a:p>
            <a:pPr marL="0" indent="0">
              <a:buNone/>
            </a:pPr>
            <a:r>
              <a:rPr lang="ru-RU" sz="1400"/>
              <a:t>Так как операции не блокируют друг друга, меньше шансов, что система залипнет из-за долгого запроса или тяжёлой операции.</a:t>
            </a:r>
            <a:br>
              <a:rPr lang="ru-RU" sz="1400"/>
            </a:br>
            <a:endParaRPr lang="ru-RU" sz="1400"/>
          </a:p>
          <a:p>
            <a:pPr marL="0" indent="0">
              <a:buNone/>
            </a:pPr>
            <a:r>
              <a:rPr lang="ru-RU" sz="1400" b="1"/>
              <a:t>Гибкая обработка результатов</a:t>
            </a:r>
            <a:endParaRPr lang="ru-RU" sz="1400"/>
          </a:p>
          <a:p>
            <a:pPr marL="0" indent="0">
              <a:buNone/>
            </a:pPr>
            <a:r>
              <a:rPr lang="ru-RU" sz="1400"/>
              <a:t>Каждый шаг можно продолжить новой задачей, обработкой ошибок или дополнительной логикой — всё аккуратно упаковано в цепочку, без монструозных </a:t>
            </a:r>
            <a:r>
              <a:rPr lang="en" sz="1400"/>
              <a:t>callback’</a:t>
            </a:r>
            <a:r>
              <a:rPr lang="ru-RU" sz="1400" err="1"/>
              <a:t>ов</a:t>
            </a:r>
            <a:r>
              <a:rPr lang="ru-RU" sz="1400"/>
              <a:t>.</a:t>
            </a:r>
            <a:br>
              <a:rPr lang="ru-RU" sz="1400"/>
            </a:br>
            <a:endParaRPr lang="ru-RU" sz="1400"/>
          </a:p>
          <a:p>
            <a:pPr marL="0" indent="0">
              <a:buNone/>
            </a:pPr>
            <a:r>
              <a:rPr lang="ru-RU" sz="1400" b="1"/>
              <a:t>Повышение доступности системы</a:t>
            </a:r>
            <a:endParaRPr lang="ru-RU" sz="1400"/>
          </a:p>
          <a:p>
            <a:pPr marL="0" indent="0">
              <a:buNone/>
            </a:pPr>
            <a:r>
              <a:rPr lang="ru-RU" sz="1400"/>
              <a:t>За счёт неблокирующего подхода сервер способен обслуживать больше клиентов одновременно, не превращаясь в раскалённый утюг.</a:t>
            </a:r>
          </a:p>
        </p:txBody>
      </p:sp>
    </p:spTree>
    <p:extLst>
      <p:ext uri="{BB962C8B-B14F-4D97-AF65-F5344CB8AC3E}">
        <p14:creationId xmlns:p14="http://schemas.microsoft.com/office/powerpoint/2010/main" val="25999395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B6BCFF-70CE-E2F5-2A81-F08B8173A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A87E06F-3B35-EDBF-BF4B-98B02E462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28CCA70-9838-094B-CEBD-830715A09C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7DF05F4-37B7-5D25-700B-3FC6E7622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36150056-A03F-CC7A-8B75-E64133C1EF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219035B-72C7-BA50-4A83-9268356D6D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52B554E-CD3F-5EB2-24F1-A536D622B2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1361C96-5B4D-A0FA-2BE6-9D5D8CCE9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6CA114D4-9455-417A-67B8-525CC14EE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B542B9E1-93BA-78BC-3B12-04030674F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58B821-37EB-9075-2749-1C77E716D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052" y="1160302"/>
            <a:ext cx="6353948" cy="4537396"/>
          </a:xfrm>
          <a:effectLst>
            <a:glow rad="1150817">
              <a:schemeClr val="bg1"/>
            </a:glow>
          </a:effectLst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" sz="1400" i="1"/>
              <a:t>public class </a:t>
            </a:r>
            <a:r>
              <a:rPr lang="en" sz="1400" err="1"/>
              <a:t>CompletableFuture</a:t>
            </a:r>
            <a:r>
              <a:rPr lang="en" sz="1400"/>
              <a:t>&lt;T&gt; </a:t>
            </a:r>
            <a:r>
              <a:rPr lang="en" sz="1400" i="1"/>
              <a:t>implements Future</a:t>
            </a:r>
            <a:r>
              <a:rPr lang="en" sz="1400"/>
              <a:t>&lt;T&gt;, </a:t>
            </a:r>
            <a:r>
              <a:rPr lang="en" sz="1400" err="1"/>
              <a:t>CompletionStage</a:t>
            </a:r>
            <a:r>
              <a:rPr lang="en" sz="1400"/>
              <a:t>&lt;T&gt; {</a:t>
            </a:r>
            <a:br>
              <a:rPr lang="en" sz="1400"/>
            </a:br>
            <a:br>
              <a:rPr lang="en" sz="1400"/>
            </a:br>
            <a:r>
              <a:rPr lang="en" sz="1400"/>
              <a:t>    </a:t>
            </a:r>
            <a:r>
              <a:rPr lang="en" sz="1400" i="1"/>
              <a:t>// </a:t>
            </a:r>
            <a:r>
              <a:rPr lang="ru-RU" sz="1400" i="1"/>
              <a:t>Запись значения / исключения</a:t>
            </a:r>
            <a:br>
              <a:rPr lang="ru-RU" sz="1400" i="1"/>
            </a:br>
            <a:r>
              <a:rPr lang="ru-RU" sz="1400" i="1"/>
              <a:t>    </a:t>
            </a:r>
            <a:r>
              <a:rPr lang="en" sz="1400" i="1" err="1"/>
              <a:t>boolean</a:t>
            </a:r>
            <a:r>
              <a:rPr lang="en" sz="1400" i="1"/>
              <a:t> </a:t>
            </a:r>
            <a:r>
              <a:rPr lang="en" sz="1400"/>
              <a:t>complete(T value);</a:t>
            </a:r>
            <a:br>
              <a:rPr lang="en" sz="1400"/>
            </a:br>
            <a:r>
              <a:rPr lang="en" sz="1400"/>
              <a:t>    </a:t>
            </a:r>
            <a:r>
              <a:rPr lang="en" sz="1400" i="1" err="1"/>
              <a:t>boolean</a:t>
            </a:r>
            <a:r>
              <a:rPr lang="en" sz="1400" i="1"/>
              <a:t> </a:t>
            </a:r>
            <a:r>
              <a:rPr lang="en" sz="1400" err="1"/>
              <a:t>completeExceptionally</a:t>
            </a:r>
            <a:r>
              <a:rPr lang="en" sz="1400"/>
              <a:t>(Throwable ex);</a:t>
            </a:r>
            <a:br>
              <a:rPr lang="en" sz="1400"/>
            </a:br>
            <a:br>
              <a:rPr lang="en" sz="1400"/>
            </a:br>
            <a:r>
              <a:rPr lang="en" sz="1400"/>
              <a:t>    </a:t>
            </a:r>
            <a:r>
              <a:rPr lang="en" sz="1400" i="1"/>
              <a:t>// </a:t>
            </a:r>
            <a:r>
              <a:rPr lang="ru-RU" sz="1400" i="1"/>
              <a:t>Работа с результатом</a:t>
            </a:r>
            <a:br>
              <a:rPr lang="ru-RU" sz="1400" i="1"/>
            </a:br>
            <a:r>
              <a:rPr lang="ru-RU" sz="1400" i="1"/>
              <a:t>    </a:t>
            </a:r>
            <a:r>
              <a:rPr lang="en" sz="1400"/>
              <a:t>T get();</a:t>
            </a:r>
            <a:br>
              <a:rPr lang="en" sz="1400"/>
            </a:br>
            <a:r>
              <a:rPr lang="en" sz="1400"/>
              <a:t>    </a:t>
            </a:r>
            <a:r>
              <a:rPr lang="en" sz="1400" i="1" err="1"/>
              <a:t>boolean</a:t>
            </a:r>
            <a:r>
              <a:rPr lang="en" sz="1400" i="1"/>
              <a:t> </a:t>
            </a:r>
            <a:r>
              <a:rPr lang="en" sz="1400" err="1"/>
              <a:t>isDone</a:t>
            </a:r>
            <a:r>
              <a:rPr lang="en" sz="1400"/>
              <a:t>();</a:t>
            </a:r>
            <a:br>
              <a:rPr lang="en" sz="1400"/>
            </a:br>
            <a:br>
              <a:rPr lang="en" sz="1400"/>
            </a:br>
            <a:r>
              <a:rPr lang="en" sz="1400"/>
              <a:t>    </a:t>
            </a:r>
            <a:r>
              <a:rPr lang="en" sz="1400" i="1"/>
              <a:t>// </a:t>
            </a:r>
            <a:r>
              <a:rPr lang="ru-RU" sz="1400" i="1"/>
              <a:t>Создание асинхронных задач</a:t>
            </a:r>
            <a:br>
              <a:rPr lang="ru-RU" sz="1400" i="1"/>
            </a:br>
            <a:r>
              <a:rPr lang="ru-RU" sz="1400" i="1"/>
              <a:t>    </a:t>
            </a:r>
            <a:r>
              <a:rPr lang="en" sz="1400" i="1"/>
              <a:t>static </a:t>
            </a:r>
            <a:r>
              <a:rPr lang="en" sz="1400"/>
              <a:t>&lt;U&gt; </a:t>
            </a:r>
            <a:r>
              <a:rPr lang="en" sz="1400" err="1"/>
              <a:t>CompletableFuture</a:t>
            </a:r>
            <a:r>
              <a:rPr lang="en" sz="1400"/>
              <a:t>&lt;U&gt; </a:t>
            </a:r>
            <a:r>
              <a:rPr lang="en" sz="1400" err="1"/>
              <a:t>supplyAsync</a:t>
            </a:r>
            <a:r>
              <a:rPr lang="en" sz="1400"/>
              <a:t>(Supplier&lt;U&gt; supplier);</a:t>
            </a:r>
            <a:br>
              <a:rPr lang="en" sz="1400"/>
            </a:br>
            <a:r>
              <a:rPr lang="en" sz="1400"/>
              <a:t>    </a:t>
            </a:r>
            <a:r>
              <a:rPr lang="en" sz="1400" i="1"/>
              <a:t>static </a:t>
            </a:r>
            <a:r>
              <a:rPr lang="en" sz="1400" err="1"/>
              <a:t>CompletableFuture</a:t>
            </a:r>
            <a:r>
              <a:rPr lang="en" sz="1400"/>
              <a:t>&lt;Void&gt; </a:t>
            </a:r>
            <a:r>
              <a:rPr lang="en" sz="1400" err="1"/>
              <a:t>runAsync</a:t>
            </a:r>
            <a:r>
              <a:rPr lang="en" sz="1400"/>
              <a:t>(</a:t>
            </a:r>
            <a:r>
              <a:rPr lang="en" sz="1400" i="1"/>
              <a:t>Runnable </a:t>
            </a:r>
            <a:r>
              <a:rPr lang="en" sz="1400"/>
              <a:t>runnable);</a:t>
            </a:r>
            <a:br>
              <a:rPr lang="en" sz="1400"/>
            </a:br>
            <a:br>
              <a:rPr lang="en" sz="1400"/>
            </a:br>
            <a:r>
              <a:rPr lang="en" sz="1400"/>
              <a:t>    </a:t>
            </a:r>
            <a:r>
              <a:rPr lang="en" sz="1400" i="1"/>
              <a:t>// </a:t>
            </a:r>
            <a:r>
              <a:rPr lang="ru-RU" sz="1400" i="1"/>
              <a:t>Композиция задач</a:t>
            </a:r>
            <a:br>
              <a:rPr lang="ru-RU" sz="1400" i="1"/>
            </a:br>
            <a:r>
              <a:rPr lang="ru-RU" sz="1400" i="1"/>
              <a:t>    </a:t>
            </a:r>
            <a:r>
              <a:rPr lang="ru-RU" sz="1400"/>
              <a:t>&lt;</a:t>
            </a:r>
            <a:r>
              <a:rPr lang="en" sz="1400"/>
              <a:t>U&gt; </a:t>
            </a:r>
            <a:r>
              <a:rPr lang="en" sz="1400" err="1"/>
              <a:t>CompletableFuture</a:t>
            </a:r>
            <a:r>
              <a:rPr lang="en" sz="1400"/>
              <a:t>&lt;U&gt; </a:t>
            </a:r>
            <a:r>
              <a:rPr lang="en" sz="1400" err="1"/>
              <a:t>thenApply</a:t>
            </a:r>
            <a:r>
              <a:rPr lang="en" sz="1400"/>
              <a:t>(Function&lt;? </a:t>
            </a:r>
            <a:r>
              <a:rPr lang="en" sz="1400" i="1"/>
              <a:t>super </a:t>
            </a:r>
            <a:r>
              <a:rPr lang="en" sz="1400"/>
              <a:t>T, ? </a:t>
            </a:r>
            <a:r>
              <a:rPr lang="en" sz="1400" i="1"/>
              <a:t>extends </a:t>
            </a:r>
            <a:r>
              <a:rPr lang="en" sz="1400"/>
              <a:t>U&gt; </a:t>
            </a:r>
            <a:r>
              <a:rPr lang="en" sz="1400" err="1"/>
              <a:t>fn</a:t>
            </a:r>
            <a:r>
              <a:rPr lang="en" sz="1400"/>
              <a:t>);</a:t>
            </a:r>
            <a:br>
              <a:rPr lang="en" sz="1400"/>
            </a:br>
            <a:r>
              <a:rPr lang="en" sz="1400"/>
              <a:t>    &lt;U&gt; </a:t>
            </a:r>
            <a:r>
              <a:rPr lang="en" sz="1400" err="1"/>
              <a:t>CompletableFuture</a:t>
            </a:r>
            <a:r>
              <a:rPr lang="en" sz="1400"/>
              <a:t>&lt;U&gt; </a:t>
            </a:r>
            <a:r>
              <a:rPr lang="en" sz="1400" err="1"/>
              <a:t>thenCompose</a:t>
            </a:r>
            <a:r>
              <a:rPr lang="en" sz="1400"/>
              <a:t>(Function&lt;? </a:t>
            </a:r>
            <a:r>
              <a:rPr lang="en" sz="1400" i="1"/>
              <a:t>super </a:t>
            </a:r>
            <a:r>
              <a:rPr lang="en" sz="1400"/>
              <a:t>T, </a:t>
            </a:r>
            <a:r>
              <a:rPr lang="en" sz="1400" err="1"/>
              <a:t>CompletableFuture</a:t>
            </a:r>
            <a:r>
              <a:rPr lang="en" sz="1400"/>
              <a:t>&lt;U&gt;&gt; </a:t>
            </a:r>
            <a:r>
              <a:rPr lang="en" sz="1400" err="1"/>
              <a:t>fn</a:t>
            </a:r>
            <a:r>
              <a:rPr lang="en" sz="1400"/>
              <a:t>);</a:t>
            </a:r>
            <a:br>
              <a:rPr lang="en" sz="1400"/>
            </a:br>
            <a:r>
              <a:rPr lang="en" sz="1400"/>
              <a:t>    </a:t>
            </a:r>
            <a:r>
              <a:rPr lang="en" sz="1400" err="1"/>
              <a:t>CompletableFuture</a:t>
            </a:r>
            <a:r>
              <a:rPr lang="en" sz="1400"/>
              <a:t>&lt;T&gt; exceptionally(Function&lt;Throwable, ? </a:t>
            </a:r>
            <a:r>
              <a:rPr lang="en" sz="1400" i="1"/>
              <a:t>extends </a:t>
            </a:r>
            <a:r>
              <a:rPr lang="en" sz="1400"/>
              <a:t>T&gt; </a:t>
            </a:r>
            <a:r>
              <a:rPr lang="en" sz="1400" err="1"/>
              <a:t>fn</a:t>
            </a:r>
            <a:r>
              <a:rPr lang="en" sz="1400"/>
              <a:t>);</a:t>
            </a:r>
            <a:br>
              <a:rPr lang="en" sz="1400"/>
            </a:br>
            <a:r>
              <a:rPr lang="en" sz="1400"/>
              <a:t>}</a:t>
            </a:r>
            <a:br>
              <a:rPr lang="en" sz="1400"/>
            </a:br>
            <a:endParaRPr lang="en" sz="1400"/>
          </a:p>
        </p:txBody>
      </p:sp>
    </p:spTree>
    <p:extLst>
      <p:ext uri="{BB962C8B-B14F-4D97-AF65-F5344CB8AC3E}">
        <p14:creationId xmlns:p14="http://schemas.microsoft.com/office/powerpoint/2010/main" val="8601022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2C57C1-78DB-B34C-0F66-0D0380623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E1FF4D5-7A1C-63C8-CD94-447E1770CB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36B147D-B21C-5814-EC21-13934D3EF2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F7590B1-0F11-5AA7-2488-15D8D63BA2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18F848D0-E904-15F5-E055-815EF18F60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78E544D8-F7FD-DAC5-40A2-6A8349D8F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89E9D63-1AC5-F4D3-4521-CA006B3AA2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83028DC-D521-0A1D-0973-FFA29D35E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20071AE2-E0AA-0C55-BDE5-6968D0A6E5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EE7B9B4-B745-ED48-41E7-29C36365AC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43E1FE0-3606-3698-32A6-15FCECCC8C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639" y="408752"/>
            <a:ext cx="5976822" cy="6056307"/>
          </a:xfrm>
          <a:effectLst>
            <a:glow rad="1150817">
              <a:schemeClr val="bg1"/>
            </a:glow>
          </a:effectLst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" sz="1400" i="1"/>
              <a:t>public static void </a:t>
            </a:r>
            <a:r>
              <a:rPr lang="en" sz="1400"/>
              <a:t>main(String[] </a:t>
            </a:r>
            <a:r>
              <a:rPr lang="en" sz="1400" err="1"/>
              <a:t>args</a:t>
            </a:r>
            <a:r>
              <a:rPr lang="en" sz="1400"/>
              <a:t>) </a:t>
            </a:r>
            <a:r>
              <a:rPr lang="en" sz="1400" i="1"/>
              <a:t>throws </a:t>
            </a:r>
            <a:r>
              <a:rPr lang="en" sz="1400"/>
              <a:t>Exception {</a:t>
            </a:r>
            <a:br>
              <a:rPr lang="en" sz="1400"/>
            </a:br>
            <a:r>
              <a:rPr lang="en" sz="1400"/>
              <a:t>    </a:t>
            </a:r>
            <a:r>
              <a:rPr lang="en" sz="1400" err="1"/>
              <a:t>ServerSocket</a:t>
            </a:r>
            <a:r>
              <a:rPr lang="en" sz="1400"/>
              <a:t> server = </a:t>
            </a:r>
            <a:r>
              <a:rPr lang="en" sz="1400" i="1"/>
              <a:t>new </a:t>
            </a:r>
            <a:r>
              <a:rPr lang="en" sz="1400" err="1"/>
              <a:t>ServerSocket</a:t>
            </a:r>
            <a:r>
              <a:rPr lang="en" sz="1400"/>
              <a:t>(12345);</a:t>
            </a:r>
            <a:br>
              <a:rPr lang="en" sz="1400"/>
            </a:br>
            <a:r>
              <a:rPr lang="en" sz="1400"/>
              <a:t>    </a:t>
            </a:r>
            <a:r>
              <a:rPr lang="en" sz="1400" i="1" err="1"/>
              <a:t>ExecutorService</a:t>
            </a:r>
            <a:r>
              <a:rPr lang="en" sz="1400" i="1"/>
              <a:t> </a:t>
            </a:r>
            <a:r>
              <a:rPr lang="en" sz="1400"/>
              <a:t>pool = </a:t>
            </a:r>
            <a:r>
              <a:rPr lang="en" sz="1400" err="1"/>
              <a:t>Executors.</a:t>
            </a:r>
            <a:r>
              <a:rPr lang="en" sz="1400" i="1" err="1"/>
              <a:t>newFixedThreadPool</a:t>
            </a:r>
            <a:r>
              <a:rPr lang="en" sz="1400"/>
              <a:t>(5);</a:t>
            </a:r>
            <a:br>
              <a:rPr lang="en" sz="1400"/>
            </a:br>
            <a:br>
              <a:rPr lang="en" sz="1400"/>
            </a:br>
            <a:r>
              <a:rPr lang="en" sz="1400"/>
              <a:t>    </a:t>
            </a:r>
            <a:r>
              <a:rPr lang="en" sz="1400" i="1"/>
              <a:t>while </a:t>
            </a:r>
            <a:r>
              <a:rPr lang="en" sz="1400"/>
              <a:t>(</a:t>
            </a:r>
            <a:r>
              <a:rPr lang="en" sz="1400" i="1"/>
              <a:t>true</a:t>
            </a:r>
            <a:r>
              <a:rPr lang="en" sz="1400"/>
              <a:t>) {</a:t>
            </a:r>
            <a:br>
              <a:rPr lang="en" sz="1400"/>
            </a:br>
            <a:r>
              <a:rPr lang="en" sz="1400"/>
              <a:t>        Socket connection = </a:t>
            </a:r>
            <a:r>
              <a:rPr lang="en" sz="1400" err="1"/>
              <a:t>server.accept</a:t>
            </a:r>
            <a:r>
              <a:rPr lang="en" sz="1400"/>
              <a:t>();</a:t>
            </a:r>
            <a:br>
              <a:rPr lang="en" sz="1400"/>
            </a:br>
            <a:br>
              <a:rPr lang="en" sz="1400"/>
            </a:br>
            <a:r>
              <a:rPr lang="en" sz="1400"/>
              <a:t>        </a:t>
            </a:r>
            <a:r>
              <a:rPr lang="en" sz="1400" err="1"/>
              <a:t>CompletableFuture</a:t>
            </a:r>
            <a:br>
              <a:rPr lang="en" sz="1400"/>
            </a:br>
            <a:r>
              <a:rPr lang="en" sz="1400"/>
              <a:t>                .</a:t>
            </a:r>
            <a:r>
              <a:rPr lang="en" sz="1400" i="1" err="1"/>
              <a:t>supplyAsync</a:t>
            </a:r>
            <a:r>
              <a:rPr lang="en" sz="1400"/>
              <a:t>(() -&gt; </a:t>
            </a:r>
            <a:r>
              <a:rPr lang="en" sz="1400" err="1"/>
              <a:t>parseInputStream</a:t>
            </a:r>
            <a:r>
              <a:rPr lang="en" sz="1400"/>
              <a:t>(connection), pool)</a:t>
            </a:r>
            <a:br>
              <a:rPr lang="en" sz="1400"/>
            </a:br>
            <a:r>
              <a:rPr lang="en" sz="1400"/>
              <a:t>                .</a:t>
            </a:r>
            <a:r>
              <a:rPr lang="en" sz="1400" err="1"/>
              <a:t>thenApply</a:t>
            </a:r>
            <a:r>
              <a:rPr lang="en" sz="1400"/>
              <a:t>(Main::</a:t>
            </a:r>
            <a:r>
              <a:rPr lang="en" sz="1400" err="1"/>
              <a:t>callOperator</a:t>
            </a:r>
            <a:r>
              <a:rPr lang="en" sz="1400"/>
              <a:t>)</a:t>
            </a:r>
            <a:br>
              <a:rPr lang="en" sz="1400"/>
            </a:br>
            <a:r>
              <a:rPr lang="en" sz="1400"/>
              <a:t>                .</a:t>
            </a:r>
            <a:r>
              <a:rPr lang="en" sz="1400" err="1"/>
              <a:t>thenApply</a:t>
            </a:r>
            <a:r>
              <a:rPr lang="en" sz="1400"/>
              <a:t>(Main::</a:t>
            </a:r>
            <a:r>
              <a:rPr lang="en" sz="1400" err="1"/>
              <a:t>saveInDatabase</a:t>
            </a:r>
            <a:r>
              <a:rPr lang="en" sz="1400"/>
              <a:t>)</a:t>
            </a:r>
            <a:br>
              <a:rPr lang="en" sz="1400"/>
            </a:br>
            <a:r>
              <a:rPr lang="en" sz="1400"/>
              <a:t>                .</a:t>
            </a:r>
            <a:r>
              <a:rPr lang="en" sz="1400" err="1"/>
              <a:t>thenAccept</a:t>
            </a:r>
            <a:r>
              <a:rPr lang="en" sz="1400"/>
              <a:t>(result -&gt; </a:t>
            </a:r>
            <a:r>
              <a:rPr lang="en" sz="1400" i="1" err="1"/>
              <a:t>writeResponse</a:t>
            </a:r>
            <a:r>
              <a:rPr lang="en" sz="1400"/>
              <a:t>(connection, result))</a:t>
            </a:r>
            <a:br>
              <a:rPr lang="en" sz="1400"/>
            </a:br>
            <a:r>
              <a:rPr lang="en" sz="1400"/>
              <a:t>                .exceptionally(ex -&gt; {</a:t>
            </a:r>
            <a:br>
              <a:rPr lang="en" sz="1400"/>
            </a:br>
            <a:r>
              <a:rPr lang="en" sz="1400"/>
              <a:t>                    </a:t>
            </a:r>
            <a:r>
              <a:rPr lang="en" sz="1400" err="1"/>
              <a:t>ex.printStackTrace</a:t>
            </a:r>
            <a:r>
              <a:rPr lang="en" sz="1400"/>
              <a:t>();</a:t>
            </a:r>
            <a:br>
              <a:rPr lang="en" sz="1400"/>
            </a:br>
            <a:r>
              <a:rPr lang="en" sz="1400"/>
              <a:t>                    close(connection);</a:t>
            </a:r>
            <a:br>
              <a:rPr lang="en" sz="1400"/>
            </a:br>
            <a:r>
              <a:rPr lang="en" sz="1400"/>
              <a:t>                    </a:t>
            </a:r>
            <a:r>
              <a:rPr lang="en" sz="1400" i="1"/>
              <a:t>return null</a:t>
            </a:r>
            <a:r>
              <a:rPr lang="en" sz="1400"/>
              <a:t>;</a:t>
            </a:r>
            <a:br>
              <a:rPr lang="en" sz="1400"/>
            </a:br>
            <a:r>
              <a:rPr lang="en" sz="1400"/>
              <a:t>                });</a:t>
            </a:r>
            <a:br>
              <a:rPr lang="en" sz="1400"/>
            </a:br>
            <a:r>
              <a:rPr lang="en" sz="1400"/>
              <a:t>    }</a:t>
            </a:r>
            <a:br>
              <a:rPr lang="en" sz="1400"/>
            </a:br>
            <a:r>
              <a:rPr lang="en" sz="1400"/>
              <a:t>}</a:t>
            </a:r>
            <a:br>
              <a:rPr lang="en" sz="1400"/>
            </a:br>
            <a:br>
              <a:rPr lang="en" sz="1400"/>
            </a:br>
            <a:r>
              <a:rPr lang="en" sz="1400" i="1"/>
              <a:t>private static void </a:t>
            </a:r>
            <a:r>
              <a:rPr lang="en" sz="1400" err="1"/>
              <a:t>writeResponse</a:t>
            </a:r>
            <a:r>
              <a:rPr lang="en" sz="1400"/>
              <a:t>(Socket conn, </a:t>
            </a:r>
            <a:r>
              <a:rPr lang="en" sz="1400" err="1"/>
              <a:t>RedirectResult</a:t>
            </a:r>
            <a:r>
              <a:rPr lang="en" sz="1400"/>
              <a:t> result) {</a:t>
            </a:r>
            <a:br>
              <a:rPr lang="en" sz="1400"/>
            </a:br>
            <a:r>
              <a:rPr lang="en" sz="1400"/>
              <a:t>    </a:t>
            </a:r>
            <a:r>
              <a:rPr lang="en" sz="1400" i="1"/>
              <a:t>// </a:t>
            </a:r>
            <a:r>
              <a:rPr lang="ru-RU" sz="1400" i="1"/>
              <a:t>запись ответа клиенту</a:t>
            </a:r>
            <a:br>
              <a:rPr lang="ru-RU" sz="1400" i="1"/>
            </a:br>
            <a:r>
              <a:rPr lang="ru-RU" sz="1400" i="1"/>
              <a:t>    </a:t>
            </a:r>
            <a:r>
              <a:rPr lang="en" sz="1400" i="1"/>
              <a:t>try </a:t>
            </a:r>
            <a:r>
              <a:rPr lang="en" sz="1400"/>
              <a:t>{</a:t>
            </a:r>
            <a:br>
              <a:rPr lang="en" sz="1400"/>
            </a:br>
            <a:r>
              <a:rPr lang="en" sz="1400"/>
              <a:t>        </a:t>
            </a:r>
            <a:r>
              <a:rPr lang="en" sz="1400" err="1"/>
              <a:t>conn.getOutputStream</a:t>
            </a:r>
            <a:r>
              <a:rPr lang="en" sz="1400"/>
              <a:t>().write("OK".</a:t>
            </a:r>
            <a:r>
              <a:rPr lang="en" sz="1400" err="1"/>
              <a:t>getBytes</a:t>
            </a:r>
            <a:r>
              <a:rPr lang="en" sz="1400"/>
              <a:t>());</a:t>
            </a:r>
            <a:br>
              <a:rPr lang="en" sz="1400"/>
            </a:br>
            <a:r>
              <a:rPr lang="en" sz="1400"/>
              <a:t>        </a:t>
            </a:r>
            <a:r>
              <a:rPr lang="en" sz="1400" err="1"/>
              <a:t>conn.getOutputStream</a:t>
            </a:r>
            <a:r>
              <a:rPr lang="en" sz="1400"/>
              <a:t>().flush();</a:t>
            </a:r>
            <a:br>
              <a:rPr lang="en" sz="1400"/>
            </a:br>
            <a:r>
              <a:rPr lang="en" sz="1400"/>
              <a:t>    } </a:t>
            </a:r>
            <a:r>
              <a:rPr lang="en" sz="1400" i="1"/>
              <a:t>catch </a:t>
            </a:r>
            <a:r>
              <a:rPr lang="en" sz="1400"/>
              <a:t>(Exception ignored) { }</a:t>
            </a:r>
            <a:br>
              <a:rPr lang="en" sz="1400"/>
            </a:br>
            <a:r>
              <a:rPr lang="en" sz="1400"/>
              <a:t>    </a:t>
            </a:r>
            <a:r>
              <a:rPr lang="en" sz="1400" i="1"/>
              <a:t>finally </a:t>
            </a:r>
            <a:r>
              <a:rPr lang="en" sz="1400"/>
              <a:t>{</a:t>
            </a:r>
            <a:br>
              <a:rPr lang="en" sz="1400"/>
            </a:br>
            <a:r>
              <a:rPr lang="en" sz="1400"/>
              <a:t>        close(conn);</a:t>
            </a:r>
            <a:br>
              <a:rPr lang="en" sz="1400"/>
            </a:br>
            <a:r>
              <a:rPr lang="en" sz="1400"/>
              <a:t>    }</a:t>
            </a:r>
            <a:br>
              <a:rPr lang="en" sz="1400"/>
            </a:br>
            <a:r>
              <a:rPr lang="en" sz="1400"/>
              <a:t>}</a:t>
            </a:r>
            <a:br>
              <a:rPr lang="en" sz="1400"/>
            </a:br>
            <a:endParaRPr lang="en" sz="1400"/>
          </a:p>
        </p:txBody>
      </p:sp>
    </p:spTree>
    <p:extLst>
      <p:ext uri="{BB962C8B-B14F-4D97-AF65-F5344CB8AC3E}">
        <p14:creationId xmlns:p14="http://schemas.microsoft.com/office/powerpoint/2010/main" val="39945807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14FC30-EFFB-EC89-4709-AF7CF806A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F909A40-CF25-0B64-83E4-D569FE9198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7F5CB88-FCBC-1205-A47A-5AAF2093E9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CD3C5E9-D9A6-AC55-6572-3F62C65C5C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1D1A43D8-709D-3F64-59CE-A1A82F4F3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2F41996-65D6-C7C9-A7D1-4A53A511E1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C8549A5-39A3-75C6-21AE-3D8BA9AAA2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9E436B5-39AB-A3EC-AE00-02B01B3562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D924B5A6-1266-D157-0D1F-D559B3B4C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A4EAFBE6-5C8F-F473-EDAB-01B28C6ADF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8F774770-8ECC-C892-436D-3158A9AA0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498" y="382043"/>
            <a:ext cx="5916169" cy="15270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sz="3600" b="1"/>
              <a:t>Итоги</a:t>
            </a:r>
            <a:endParaRPr lang="en-US" sz="3600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Объект 3">
            <a:extLst>
              <a:ext uri="{FF2B5EF4-FFF2-40B4-BE49-F238E27FC236}">
                <a16:creationId xmlns:a16="http://schemas.microsoft.com/office/drawing/2014/main" id="{45DAA586-4E43-701B-DE44-D10F9C9F96B9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265801" y="2032014"/>
            <a:ext cx="5916169" cy="4443943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400" b="1"/>
              <a:t>Многопоточность</a:t>
            </a:r>
            <a:endParaRPr lang="ru-RU" sz="1400"/>
          </a:p>
          <a:p>
            <a:pPr marL="0" indent="0">
              <a:buNone/>
            </a:pPr>
            <a:r>
              <a:rPr lang="ru-RU" sz="1400"/>
              <a:t>Позволяет выполнять несколько операций параллельно.</a:t>
            </a:r>
          </a:p>
          <a:p>
            <a:pPr marL="0" indent="0">
              <a:buNone/>
            </a:pPr>
            <a:r>
              <a:rPr lang="ru-RU" sz="1400"/>
              <a:t>Ускоряет работу, когда задачи могут реально идти одновременно.</a:t>
            </a:r>
          </a:p>
          <a:p>
            <a:pPr marL="0" indent="0">
              <a:buNone/>
            </a:pPr>
            <a:r>
              <a:rPr lang="ru-RU" sz="1400"/>
              <a:t>Требует аккуратности: блокировки, синхронизация, гонки данных — всё это легко сломает систему.</a:t>
            </a:r>
          </a:p>
          <a:p>
            <a:pPr marL="0" indent="0">
              <a:buNone/>
            </a:pPr>
            <a:r>
              <a:rPr lang="ru-RU" sz="1400"/>
              <a:t>Подходит для задач, которые нагружают процессор (</a:t>
            </a:r>
            <a:r>
              <a:rPr lang="en" sz="1400"/>
              <a:t>CPU-bound).</a:t>
            </a:r>
            <a:br>
              <a:rPr lang="en" sz="1400"/>
            </a:br>
            <a:endParaRPr lang="en" sz="1400"/>
          </a:p>
          <a:p>
            <a:pPr marL="0" indent="0">
              <a:buNone/>
            </a:pPr>
            <a:r>
              <a:rPr lang="ru-RU" sz="1400" b="1"/>
              <a:t>Асинхронность</a:t>
            </a:r>
            <a:endParaRPr lang="ru-RU" sz="1400"/>
          </a:p>
          <a:p>
            <a:pPr marL="0" indent="0">
              <a:buNone/>
            </a:pPr>
            <a:r>
              <a:rPr lang="ru-RU" sz="1400"/>
              <a:t>Дает возможность не блокировать поток и продолжать работу, пока операция выполняется.</a:t>
            </a:r>
          </a:p>
          <a:p>
            <a:pPr marL="0" indent="0">
              <a:buNone/>
            </a:pPr>
            <a:r>
              <a:rPr lang="ru-RU" sz="1400"/>
              <a:t>Особенно полезна для задач, завязанных на ввод-вывод (</a:t>
            </a:r>
            <a:r>
              <a:rPr lang="en" sz="1400"/>
              <a:t>I/O-bound): </a:t>
            </a:r>
            <a:r>
              <a:rPr lang="ru-RU" sz="1400"/>
              <a:t>сеть, диски, </a:t>
            </a:r>
            <a:r>
              <a:rPr lang="en" sz="1400"/>
              <a:t>API.</a:t>
            </a:r>
          </a:p>
          <a:p>
            <a:pPr marL="0" indent="0">
              <a:buNone/>
            </a:pPr>
            <a:r>
              <a:rPr lang="ru-RU" sz="1400"/>
              <a:t>Основана на </a:t>
            </a:r>
            <a:r>
              <a:rPr lang="ru-RU" sz="1400" err="1"/>
              <a:t>колбэках</a:t>
            </a:r>
            <a:r>
              <a:rPr lang="ru-RU" sz="1400"/>
              <a:t>, </a:t>
            </a:r>
            <a:r>
              <a:rPr lang="en" sz="1400"/>
              <a:t>Future, </a:t>
            </a:r>
            <a:r>
              <a:rPr lang="en" sz="1400" err="1"/>
              <a:t>CompletableFuture</a:t>
            </a:r>
            <a:r>
              <a:rPr lang="en" sz="1400"/>
              <a:t>, </a:t>
            </a:r>
            <a:r>
              <a:rPr lang="ru-RU" sz="1400"/>
              <a:t>реактивных стримах.</a:t>
            </a:r>
          </a:p>
          <a:p>
            <a:pPr marL="0" indent="0">
              <a:buNone/>
            </a:pPr>
            <a:r>
              <a:rPr lang="ru-RU" sz="1400"/>
              <a:t>Помогает держать сервер отзывчивым даже под высокой нагрузкой.</a:t>
            </a:r>
          </a:p>
          <a:p>
            <a:pPr marL="0" indent="0">
              <a:buNone/>
            </a:pPr>
            <a:endParaRPr lang="ru-RU" sz="1400"/>
          </a:p>
          <a:p>
            <a:pPr marL="0" indent="0">
              <a:buNone/>
            </a:pPr>
            <a:r>
              <a:rPr lang="ru-RU" sz="1400" b="1"/>
              <a:t>Главное различие</a:t>
            </a:r>
            <a:endParaRPr lang="ru-RU" sz="1400"/>
          </a:p>
          <a:p>
            <a:pPr marL="0" indent="0">
              <a:buNone/>
            </a:pPr>
            <a:r>
              <a:rPr lang="ru-RU" sz="1400"/>
              <a:t>Потоки = новые «дорожки» выполнения.</a:t>
            </a:r>
          </a:p>
          <a:p>
            <a:pPr marL="0" indent="0">
              <a:buNone/>
            </a:pPr>
            <a:r>
              <a:rPr lang="ru-RU" sz="1400"/>
              <a:t>Асинхронность = не ждём результата прямо сейчас, даём ОС и </a:t>
            </a:r>
            <a:r>
              <a:rPr lang="ru-RU" sz="1400" err="1"/>
              <a:t>рантайму</a:t>
            </a:r>
            <a:r>
              <a:rPr lang="ru-RU" sz="1400"/>
              <a:t> самим решать, когда продолжить.</a:t>
            </a:r>
          </a:p>
        </p:txBody>
      </p:sp>
    </p:spTree>
    <p:extLst>
      <p:ext uri="{BB962C8B-B14F-4D97-AF65-F5344CB8AC3E}">
        <p14:creationId xmlns:p14="http://schemas.microsoft.com/office/powerpoint/2010/main" val="118220306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1432</Words>
  <Application>Microsoft Macintosh PowerPoint</Application>
  <PresentationFormat>Широкоэкранный</PresentationFormat>
  <Paragraphs>78</Paragraphs>
  <Slides>17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Тема Office</vt:lpstr>
      <vt:lpstr>Презентация PowerPoint</vt:lpstr>
      <vt:lpstr>Задачи доклада </vt:lpstr>
      <vt:lpstr>Презентация PowerPoint</vt:lpstr>
      <vt:lpstr>Презентация PowerPoint</vt:lpstr>
      <vt:lpstr>Минусы такого подхода</vt:lpstr>
      <vt:lpstr>Презентация PowerPoint</vt:lpstr>
      <vt:lpstr>Презентация PowerPoint</vt:lpstr>
      <vt:lpstr>Минусы такого подхода</vt:lpstr>
      <vt:lpstr>Презентация PowerPoint</vt:lpstr>
      <vt:lpstr>Паттерн Future</vt:lpstr>
      <vt:lpstr>Презентация PowerPoint</vt:lpstr>
      <vt:lpstr>Сложности ручной обработки потоков</vt:lpstr>
      <vt:lpstr>Паттерн Future</vt:lpstr>
      <vt:lpstr>CompletableFuture</vt:lpstr>
      <vt:lpstr>Презентация PowerPoint</vt:lpstr>
      <vt:lpstr>Презентация PowerPoint</vt:lpstr>
      <vt:lpstr>Итоги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Александр Базаров</dc:creator>
  <cp:lastModifiedBy>Александр Базаров</cp:lastModifiedBy>
  <cp:revision>2</cp:revision>
  <dcterms:created xsi:type="dcterms:W3CDTF">2025-11-25T18:17:39Z</dcterms:created>
  <dcterms:modified xsi:type="dcterms:W3CDTF">2025-11-27T09:12:06Z</dcterms:modified>
</cp:coreProperties>
</file>